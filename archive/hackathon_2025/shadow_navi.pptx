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64" r:id="rId4"/>
    <p:sldId id="265" r:id="rId5"/>
    <p:sldId id="258" r:id="rId6"/>
    <p:sldId id="272" r:id="rId7"/>
    <p:sldId id="268" r:id="rId8"/>
    <p:sldId id="284" r:id="rId9"/>
    <p:sldId id="260" r:id="rId10"/>
    <p:sldId id="275" r:id="rId11"/>
    <p:sldId id="279" r:id="rId12"/>
    <p:sldId id="276" r:id="rId13"/>
    <p:sldId id="277" r:id="rId14"/>
    <p:sldId id="278" r:id="rId15"/>
    <p:sldId id="281" r:id="rId16"/>
    <p:sldId id="282" r:id="rId17"/>
    <p:sldId id="261" r:id="rId18"/>
    <p:sldId id="280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090C0"/>
    <a:srgbClr val="F29B8F"/>
    <a:srgbClr val="F7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60"/>
  </p:normalViewPr>
  <p:slideViewPr>
    <p:cSldViewPr snapToGrid="0">
      <p:cViewPr varScale="1">
        <p:scale>
          <a:sx n="70" d="100"/>
          <a:sy n="70" d="100"/>
        </p:scale>
        <p:origin x="5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4C5F1-1F11-44B5-AD91-F125498A28CB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3CCA8-F7DA-465D-97D0-938D3318D0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0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3CCA8-F7DA-465D-97D0-938D3318D09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87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3CCA8-F7DA-465D-97D0-938D3318D09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42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EAA1B4-FEBE-D6B0-4B9D-8D30135CD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6A6399-CFFC-038A-FE32-92D44271C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9B2935-00F9-AC6C-F4CD-B1F6AF84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4A9865-A9B3-CCF5-F844-CBE57AC8D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A400B-E781-5FB0-C450-B7E6AFAD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30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08E13-47AF-DE15-66EA-1B194BA6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16EA16-38F0-5200-2ABF-9382D5679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06B686-00B3-5148-62F9-88405EC5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257E86-662C-2F4F-6ED8-CF4CBD2E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461C72-80B1-1A8D-450F-BCBB7428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31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9F13B-1666-E72D-7CD7-FB0EC8B5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809564-EEA1-0765-13AC-2AF289412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6D57BA-AF9B-C83A-E0AF-38E1E220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EAF134-4707-B027-18E0-F2A1CB2B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4FDA86-2D26-6BB6-F42F-EE7096BC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37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8D5835-1299-9BF2-257E-C930A167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DDDEA3-347F-00AA-163B-4301DB322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90440B-2202-E717-01AA-7D8215261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D539CE-4383-AAC5-4B40-D64F38B4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479909-93BC-1B24-EF5B-9FE683E8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1D9138-8504-8614-9834-1ECD061C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80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7EC836-B536-5892-7D77-6AAEECE5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C5AF8F-5215-3B73-4A3B-9A67BB0BD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B5D686-CAD9-CB06-FF1E-80362746A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6ACCB1-3520-8C33-E9BB-A76554730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D2F0D7C-3729-A916-5673-AB755F227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6A8525A-6125-41DB-6EF4-7B91B941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A6AA0B9-8187-4519-CCB7-7E102B73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538308-D301-FFC3-B110-7C70E449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53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CBD6F4-E2BB-529B-F03D-D439AFC0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D9E00D-FB51-1BCF-0430-7661D107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6233B6-59E6-DBED-6331-0C004F31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CF1C6A-03A3-2096-D8D6-5FD44084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13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828483-EBF9-12B0-B9FD-FD0AB3D4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89B84F1-6E35-5729-0779-0942E001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232118-8099-47A4-4755-DBAFAA32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40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6A66A1-F365-0EB2-9325-77594749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1E6663-AF0F-4704-1AFE-82077AE1A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D3EB18-C493-F97C-2068-B113CAD6C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982CC6-7091-3B06-07FF-19CC7E71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7EA32-D767-EE31-6E83-77513B5E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93DE78-A2B1-6F31-5B80-25F039FC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23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2FA1C8-A81C-D9FF-C980-99611CC06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9195838-CDBE-36B4-76AD-BB6FF68D8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8560DE-B2AA-8A38-D876-A00B4401D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58C03A-431E-90D4-DB1D-C6987DE7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F07CBF-7A19-A88A-BF30-2CB1CE55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7E0115-7353-774E-E6F0-AF54BEAF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4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F3905-3017-5122-B2C1-47E7E48B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A6F462-2593-727E-0A48-C9E765AB0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3EABC0-45FB-9C3C-0AF4-BB53E8D6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6B1DA3-4F17-8866-F836-FCB86FC0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0007CB-B242-B011-970F-DA6C782B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14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2F881FC-A17D-40B6-46B9-1E308CFC5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4F7C51-E27E-0B34-D4B5-A1459F227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883050-8972-86F8-3B54-CFE9F6A5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9A848-99CD-BB51-68C0-C3086769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5A6196-8A99-9CA2-2F15-B28CB16E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26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C62B6C-3DAB-B05A-73D0-1F672506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C902A5-854E-887F-3880-AB8365756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9F9A07-6D9B-D484-BCAC-140DCEDE0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1842-28BA-4DE2-88AC-08793C1BF3B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9ABD19-8DCE-9FEE-05B3-612EC8AC1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054FC1-09ED-8EAA-E1B2-222272FD9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C529-A6B3-4E42-82BE-97093AC645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32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屋外, シーン, 建物, 歩道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D2F0BED-A2F7-46E4-1A0D-DB7496FFB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12" y="-1188720"/>
            <a:ext cx="6614160" cy="992124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9167DE1-F089-9F76-A767-F20CC04D039E}"/>
              </a:ext>
            </a:extLst>
          </p:cNvPr>
          <p:cNvSpPr/>
          <p:nvPr/>
        </p:nvSpPr>
        <p:spPr>
          <a:xfrm>
            <a:off x="859536" y="1638679"/>
            <a:ext cx="10421112" cy="2503553"/>
          </a:xfrm>
          <a:prstGeom prst="rect">
            <a:avLst/>
          </a:prstGeom>
          <a:solidFill>
            <a:srgbClr val="8090C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A401A8-6685-D503-E358-885CD1F8D09E}"/>
              </a:ext>
            </a:extLst>
          </p:cNvPr>
          <p:cNvSpPr txBox="1"/>
          <p:nvPr/>
        </p:nvSpPr>
        <p:spPr>
          <a:xfrm>
            <a:off x="780288" y="1861183"/>
            <a:ext cx="104211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KAGE-MICHI</a:t>
            </a:r>
          </a:p>
          <a:p>
            <a:pPr algn="ctr"/>
            <a:endParaRPr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lang="en-US" altLang="ja-JP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〜 3D</a:t>
            </a:r>
            <a:r>
              <a:rPr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都市データで「最涼」ルートを導く、熱中症対策ナビ </a:t>
            </a:r>
            <a:r>
              <a:rPr lang="en-US" altLang="ja-JP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〜</a:t>
            </a:r>
            <a:endParaRPr kumimoji="1" lang="ja-JP" altLang="en-US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534E4E-DCBB-46F5-293D-CB8D6C60177C}"/>
              </a:ext>
            </a:extLst>
          </p:cNvPr>
          <p:cNvSpPr txBox="1"/>
          <p:nvPr/>
        </p:nvSpPr>
        <p:spPr>
          <a:xfrm>
            <a:off x="5620512" y="6385620"/>
            <a:ext cx="5580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solidFill>
                  <a:srgbClr val="F7F2EB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和歌山大学システム工学部</a:t>
            </a:r>
            <a:r>
              <a:rPr lang="en-US" altLang="ja-JP" sz="2000" dirty="0">
                <a:solidFill>
                  <a:srgbClr val="F7F2EB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2</a:t>
            </a:r>
            <a:r>
              <a:rPr lang="ja-JP" altLang="en-US" sz="2000" dirty="0">
                <a:solidFill>
                  <a:srgbClr val="F7F2EB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年　</a:t>
            </a:r>
            <a:r>
              <a:rPr kumimoji="1" lang="ja-JP" altLang="en-US" sz="2000" dirty="0">
                <a:solidFill>
                  <a:srgbClr val="F7F2EB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福田 桃花</a:t>
            </a:r>
          </a:p>
        </p:txBody>
      </p:sp>
    </p:spTree>
    <p:extLst>
      <p:ext uri="{BB962C8B-B14F-4D97-AF65-F5344CB8AC3E}">
        <p14:creationId xmlns:p14="http://schemas.microsoft.com/office/powerpoint/2010/main" val="366388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2D40-CC2E-E4A5-299C-C1ABADF67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A2DAC8-4A4F-39B7-7685-AFFE0FA192D7}"/>
              </a:ext>
            </a:extLst>
          </p:cNvPr>
          <p:cNvSpPr/>
          <p:nvPr/>
        </p:nvSpPr>
        <p:spPr>
          <a:xfrm>
            <a:off x="4844716" y="765908"/>
            <a:ext cx="4122821" cy="292387"/>
          </a:xfrm>
          <a:prstGeom prst="rect">
            <a:avLst/>
          </a:prstGeom>
          <a:solidFill>
            <a:srgbClr val="F29B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039EFA-1F60-BC23-4C5D-D4C9DA2CF0D6}"/>
              </a:ext>
            </a:extLst>
          </p:cNvPr>
          <p:cNvSpPr txBox="1"/>
          <p:nvPr/>
        </p:nvSpPr>
        <p:spPr>
          <a:xfrm>
            <a:off x="712296" y="473521"/>
            <a:ext cx="10767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近年、猛暑による熱中症のリスクが増加している</a:t>
            </a:r>
          </a:p>
        </p:txBody>
      </p:sp>
    </p:spTree>
    <p:extLst>
      <p:ext uri="{BB962C8B-B14F-4D97-AF65-F5344CB8AC3E}">
        <p14:creationId xmlns:p14="http://schemas.microsoft.com/office/powerpoint/2010/main" val="370166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1AD0-F197-C89F-A7A1-9FABA435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07E59B-6B71-8B9B-4AF9-E6F01617DC25}"/>
              </a:ext>
            </a:extLst>
          </p:cNvPr>
          <p:cNvSpPr/>
          <p:nvPr/>
        </p:nvSpPr>
        <p:spPr>
          <a:xfrm>
            <a:off x="5257799" y="2842124"/>
            <a:ext cx="3296653" cy="289054"/>
          </a:xfrm>
          <a:prstGeom prst="rect">
            <a:avLst/>
          </a:prstGeom>
          <a:solidFill>
            <a:srgbClr val="F29B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D79FC9-D7C0-4B73-57E7-0DCA5174A7AE}"/>
              </a:ext>
            </a:extLst>
          </p:cNvPr>
          <p:cNvSpPr/>
          <p:nvPr/>
        </p:nvSpPr>
        <p:spPr>
          <a:xfrm>
            <a:off x="4844716" y="765908"/>
            <a:ext cx="4122821" cy="292387"/>
          </a:xfrm>
          <a:prstGeom prst="rect">
            <a:avLst/>
          </a:prstGeom>
          <a:solidFill>
            <a:srgbClr val="F29B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A3F5B7D-084E-0E19-4739-043CC771719C}"/>
              </a:ext>
            </a:extLst>
          </p:cNvPr>
          <p:cNvSpPr txBox="1"/>
          <p:nvPr/>
        </p:nvSpPr>
        <p:spPr>
          <a:xfrm>
            <a:off x="712296" y="473521"/>
            <a:ext cx="10767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近年、猛暑による熱中症のリスクが増加している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48CA9F-1848-C004-1914-CC06949C54F9}"/>
              </a:ext>
            </a:extLst>
          </p:cNvPr>
          <p:cNvSpPr txBox="1"/>
          <p:nvPr/>
        </p:nvSpPr>
        <p:spPr>
          <a:xfrm>
            <a:off x="192505" y="2546404"/>
            <a:ext cx="11806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既存のナビは時間優先で、炎天下の危険な道を案内してしまう</a:t>
            </a:r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F48013BF-F9D5-8F23-D031-F6097AC15A12}"/>
              </a:ext>
            </a:extLst>
          </p:cNvPr>
          <p:cNvSpPr/>
          <p:nvPr/>
        </p:nvSpPr>
        <p:spPr>
          <a:xfrm rot="10800000">
            <a:off x="5542547" y="1509962"/>
            <a:ext cx="1106905" cy="584776"/>
          </a:xfrm>
          <a:prstGeom prst="triangle">
            <a:avLst>
              <a:gd name="adj" fmla="val 48677"/>
            </a:avLst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67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9CBB-64C3-205A-5574-5631F9A0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辺形 4">
            <a:extLst>
              <a:ext uri="{FF2B5EF4-FFF2-40B4-BE49-F238E27FC236}">
                <a16:creationId xmlns:a16="http://schemas.microsoft.com/office/drawing/2014/main" id="{248C5920-3850-AFEA-41F1-65EF3F64AFCE}"/>
              </a:ext>
            </a:extLst>
          </p:cNvPr>
          <p:cNvSpPr/>
          <p:nvPr/>
        </p:nvSpPr>
        <p:spPr>
          <a:xfrm>
            <a:off x="2944367" y="6120127"/>
            <a:ext cx="6095999" cy="528704"/>
          </a:xfrm>
          <a:prstGeom prst="parallelogram">
            <a:avLst>
              <a:gd name="adj" fmla="val 85245"/>
            </a:avLst>
          </a:prstGeom>
          <a:solidFill>
            <a:srgbClr val="8090C0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02A7ED7-A32C-0663-8DAB-C5AA2C2F0A53}"/>
              </a:ext>
            </a:extLst>
          </p:cNvPr>
          <p:cNvSpPr/>
          <p:nvPr/>
        </p:nvSpPr>
        <p:spPr>
          <a:xfrm>
            <a:off x="5257799" y="2842124"/>
            <a:ext cx="3296653" cy="289054"/>
          </a:xfrm>
          <a:prstGeom prst="rect">
            <a:avLst/>
          </a:prstGeom>
          <a:solidFill>
            <a:srgbClr val="F29B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0EB7CBE-29BD-AB85-426A-E17009DA5C6C}"/>
              </a:ext>
            </a:extLst>
          </p:cNvPr>
          <p:cNvSpPr/>
          <p:nvPr/>
        </p:nvSpPr>
        <p:spPr>
          <a:xfrm>
            <a:off x="4844716" y="765908"/>
            <a:ext cx="4122821" cy="292387"/>
          </a:xfrm>
          <a:prstGeom prst="rect">
            <a:avLst/>
          </a:prstGeom>
          <a:solidFill>
            <a:srgbClr val="F29B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DFFB29-8710-2EF7-D891-0D4560B1E80C}"/>
              </a:ext>
            </a:extLst>
          </p:cNvPr>
          <p:cNvSpPr txBox="1"/>
          <p:nvPr/>
        </p:nvSpPr>
        <p:spPr>
          <a:xfrm>
            <a:off x="712296" y="473521"/>
            <a:ext cx="10767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近年、猛暑による熱中症のリスクが増加している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C0061E-0112-49D6-530D-54F0F6471073}"/>
              </a:ext>
            </a:extLst>
          </p:cNvPr>
          <p:cNvSpPr txBox="1"/>
          <p:nvPr/>
        </p:nvSpPr>
        <p:spPr>
          <a:xfrm>
            <a:off x="192505" y="2546404"/>
            <a:ext cx="11806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既存のナビは時間優先で、炎天下の危険な道を案内してしまう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036C68-4C85-76A3-1F14-45BCD41D18D3}"/>
              </a:ext>
            </a:extLst>
          </p:cNvPr>
          <p:cNvSpPr txBox="1"/>
          <p:nvPr/>
        </p:nvSpPr>
        <p:spPr>
          <a:xfrm>
            <a:off x="59369" y="4619287"/>
            <a:ext cx="12073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>
                <a:solidFill>
                  <a:srgbClr val="F29B8F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最短</a:t>
            </a:r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ではなく</a:t>
            </a:r>
            <a:r>
              <a:rPr kumimoji="1" lang="ja-JP" altLang="en-US" sz="48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最涼</a:t>
            </a:r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のルートを案内するナビゲーション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AEDCE8-A817-573D-14F6-438CD6EC837A}"/>
              </a:ext>
            </a:extLst>
          </p:cNvPr>
          <p:cNvSpPr txBox="1"/>
          <p:nvPr/>
        </p:nvSpPr>
        <p:spPr>
          <a:xfrm>
            <a:off x="3047999" y="552646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KAGE-MICHI</a:t>
            </a:r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BA960E67-A15B-7B88-1B52-447FECB625E5}"/>
              </a:ext>
            </a:extLst>
          </p:cNvPr>
          <p:cNvSpPr/>
          <p:nvPr/>
        </p:nvSpPr>
        <p:spPr>
          <a:xfrm rot="10800000">
            <a:off x="5542547" y="1509962"/>
            <a:ext cx="1106905" cy="584776"/>
          </a:xfrm>
          <a:prstGeom prst="triangle">
            <a:avLst>
              <a:gd name="adj" fmla="val 48677"/>
            </a:avLst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AD5371EE-6401-96EF-0AEB-44D3533D9C18}"/>
              </a:ext>
            </a:extLst>
          </p:cNvPr>
          <p:cNvSpPr/>
          <p:nvPr/>
        </p:nvSpPr>
        <p:spPr>
          <a:xfrm rot="10800000">
            <a:off x="5542547" y="3582845"/>
            <a:ext cx="1106905" cy="584776"/>
          </a:xfrm>
          <a:prstGeom prst="triangle">
            <a:avLst>
              <a:gd name="adj" fmla="val 48677"/>
            </a:avLst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AEDD43F-407E-0D64-2B68-32467EB24E24}"/>
              </a:ext>
            </a:extLst>
          </p:cNvPr>
          <p:cNvCxnSpPr>
            <a:cxnSpLocks/>
          </p:cNvCxnSpPr>
          <p:nvPr/>
        </p:nvCxnSpPr>
        <p:spPr>
          <a:xfrm>
            <a:off x="169645" y="4287004"/>
            <a:ext cx="420143" cy="38670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991E0AD-6234-8118-3399-BA9B869737FD}"/>
              </a:ext>
            </a:extLst>
          </p:cNvPr>
          <p:cNvCxnSpPr>
            <a:cxnSpLocks/>
          </p:cNvCxnSpPr>
          <p:nvPr/>
        </p:nvCxnSpPr>
        <p:spPr>
          <a:xfrm>
            <a:off x="448056" y="3985311"/>
            <a:ext cx="297728" cy="55779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3025B81-B71E-0CEB-82B8-463D5042475D}"/>
              </a:ext>
            </a:extLst>
          </p:cNvPr>
          <p:cNvCxnSpPr>
            <a:cxnSpLocks/>
          </p:cNvCxnSpPr>
          <p:nvPr/>
        </p:nvCxnSpPr>
        <p:spPr>
          <a:xfrm>
            <a:off x="868199" y="3875232"/>
            <a:ext cx="13568" cy="6022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38DE1494-EE05-E38A-835C-FA3D052E91A1}"/>
              </a:ext>
            </a:extLst>
          </p:cNvPr>
          <p:cNvGrpSpPr/>
          <p:nvPr/>
        </p:nvGrpSpPr>
        <p:grpSpPr>
          <a:xfrm flipH="1">
            <a:off x="11287373" y="3979550"/>
            <a:ext cx="712122" cy="798480"/>
            <a:chOff x="10782781" y="4027632"/>
            <a:chExt cx="712122" cy="798480"/>
          </a:xfrm>
        </p:grpSpPr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FFD51E65-6E03-3629-AC06-B985B40DB73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2781" y="4439404"/>
              <a:ext cx="420143" cy="38670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E4F38ABA-DF6C-1FC2-A1AF-C76D540BCDF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1192" y="4137711"/>
              <a:ext cx="297728" cy="55779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4860B8D3-3B15-B1D0-F50F-94C347F0DA77}"/>
                </a:ext>
              </a:extLst>
            </p:cNvPr>
            <p:cNvCxnSpPr>
              <a:cxnSpLocks/>
            </p:cNvCxnSpPr>
            <p:nvPr/>
          </p:nvCxnSpPr>
          <p:spPr>
            <a:xfrm>
              <a:off x="11481335" y="4027632"/>
              <a:ext cx="13568" cy="60226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898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9133-4446-5FAC-6369-4ED4F87B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DC7AAC-759A-D31B-4F37-546227C30AD1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05691E-9BDA-3E01-3256-43E4BAD9F05E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D478CA-D5B7-4CAA-4DDC-1673A566B191}"/>
              </a:ext>
            </a:extLst>
          </p:cNvPr>
          <p:cNvSpPr txBox="1"/>
          <p:nvPr/>
        </p:nvSpPr>
        <p:spPr>
          <a:xfrm>
            <a:off x="539496" y="160791"/>
            <a:ext cx="363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目次</a:t>
            </a:r>
            <a:endParaRPr kumimoji="1" lang="ja-JP" altLang="en-US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8394AD-D655-7BF7-2F1E-D0F107B5EB25}"/>
              </a:ext>
            </a:extLst>
          </p:cNvPr>
          <p:cNvSpPr txBox="1"/>
          <p:nvPr/>
        </p:nvSpPr>
        <p:spPr>
          <a:xfrm>
            <a:off x="539496" y="1411730"/>
            <a:ext cx="6300216" cy="4166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ja-JP" altLang="en-US" sz="36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概要</a:t>
            </a:r>
            <a:endParaRPr kumimoji="1" lang="en-US" altLang="ja-JP" sz="36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ja-JP" altLang="en-US" sz="36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アプリの紹介</a:t>
            </a:r>
            <a:endParaRPr lang="en-US" altLang="ja-JP" sz="36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ja-JP" altLang="en-US" sz="36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</a:t>
            </a:r>
            <a:endParaRPr kumimoji="1" lang="en-US" altLang="ja-JP" sz="36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ja-JP" altLang="en-US" sz="36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工夫した機能</a:t>
            </a:r>
            <a:endParaRPr kumimoji="1" lang="en-US" altLang="ja-JP" sz="36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ja-JP" altLang="en-US" sz="36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今後の展望</a:t>
            </a:r>
            <a:endParaRPr kumimoji="1" lang="en-US" altLang="ja-JP" sz="36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6" name="図 5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4809C32A-1098-2D5C-FE6A-D79F9941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194" y="2663697"/>
            <a:ext cx="3607091" cy="360709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470C18-A9A4-8169-7EBD-58DB3282201B}"/>
              </a:ext>
            </a:extLst>
          </p:cNvPr>
          <p:cNvSpPr txBox="1"/>
          <p:nvPr/>
        </p:nvSpPr>
        <p:spPr>
          <a:xfrm>
            <a:off x="7525512" y="2029968"/>
            <a:ext cx="3607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KAGE-MICHI</a:t>
            </a:r>
            <a:endParaRPr kumimoji="1" lang="ja-JP" altLang="en-US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718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CB91-84DA-33A1-9B17-E7E753A8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辺形 21">
            <a:extLst>
              <a:ext uri="{FF2B5EF4-FFF2-40B4-BE49-F238E27FC236}">
                <a16:creationId xmlns:a16="http://schemas.microsoft.com/office/drawing/2014/main" id="{5AD0067F-A62F-21A1-7B8D-C4A2B2E43EA7}"/>
              </a:ext>
            </a:extLst>
          </p:cNvPr>
          <p:cNvSpPr/>
          <p:nvPr/>
        </p:nvSpPr>
        <p:spPr>
          <a:xfrm>
            <a:off x="3264408" y="1960842"/>
            <a:ext cx="4434840" cy="372781"/>
          </a:xfrm>
          <a:prstGeom prst="parallelogram">
            <a:avLst>
              <a:gd name="adj" fmla="val 85245"/>
            </a:avLst>
          </a:prstGeom>
          <a:solidFill>
            <a:srgbClr val="8090C0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ACC59-6265-0C27-95E4-36429208131A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0ABE48-8562-D970-F62B-5259B5EA52E9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9090AC-8E0D-1992-5BDD-F7F01A1391B2}"/>
              </a:ext>
            </a:extLst>
          </p:cNvPr>
          <p:cNvSpPr txBox="1"/>
          <p:nvPr/>
        </p:nvSpPr>
        <p:spPr>
          <a:xfrm>
            <a:off x="539496" y="160791"/>
            <a:ext cx="363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1. </a:t>
            </a:r>
            <a:r>
              <a:rPr kumimoji="1"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概要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77A4E5E-E2C2-0D2C-1146-4311B9759DD2}"/>
              </a:ext>
            </a:extLst>
          </p:cNvPr>
          <p:cNvGrpSpPr/>
          <p:nvPr/>
        </p:nvGrpSpPr>
        <p:grpSpPr>
          <a:xfrm>
            <a:off x="615094" y="1532237"/>
            <a:ext cx="2320089" cy="788343"/>
            <a:chOff x="342900" y="1346267"/>
            <a:chExt cx="2320089" cy="788343"/>
          </a:xfrm>
        </p:grpSpPr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2C6D69A4-0D28-9623-4FF8-18AAA1C0DE2C}"/>
                </a:ext>
              </a:extLst>
            </p:cNvPr>
            <p:cNvSpPr/>
            <p:nvPr/>
          </p:nvSpPr>
          <p:spPr>
            <a:xfrm>
              <a:off x="342900" y="1346267"/>
              <a:ext cx="2320089" cy="788343"/>
            </a:xfrm>
            <a:prstGeom prst="round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BC177B51-4B95-09B6-3B73-EE40E9D6ADA7}"/>
                </a:ext>
              </a:extLst>
            </p:cNvPr>
            <p:cNvSpPr txBox="1"/>
            <p:nvPr/>
          </p:nvSpPr>
          <p:spPr>
            <a:xfrm>
              <a:off x="539496" y="1475898"/>
              <a:ext cx="21234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dirty="0">
                  <a:latin typeface="源真ゴシック Medium" panose="020B0402020203020207" pitchFamily="50" charset="-128"/>
                  <a:ea typeface="源真ゴシック Medium" panose="020B0402020203020207" pitchFamily="50" charset="-128"/>
                  <a:cs typeface="源真ゴシック Medium" panose="020B0402020203020207" pitchFamily="50" charset="-128"/>
                </a:rPr>
                <a:t>アプリ名</a:t>
              </a:r>
              <a:endParaRPr kumimoji="1" lang="en-US" altLang="ja-JP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endParaRPr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778AC2-C9CA-B1F8-A975-C6F0B891FABA}"/>
              </a:ext>
            </a:extLst>
          </p:cNvPr>
          <p:cNvSpPr txBox="1"/>
          <p:nvPr/>
        </p:nvSpPr>
        <p:spPr>
          <a:xfrm>
            <a:off x="3399001" y="1492590"/>
            <a:ext cx="53675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KAGE-MICHI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9D832B-F981-E864-458E-F394D8D078E8}"/>
              </a:ext>
            </a:extLst>
          </p:cNvPr>
          <p:cNvSpPr txBox="1"/>
          <p:nvPr/>
        </p:nvSpPr>
        <p:spPr>
          <a:xfrm>
            <a:off x="3399001" y="5172390"/>
            <a:ext cx="7653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日付・時間の情報から</a:t>
            </a:r>
            <a:r>
              <a:rPr kumimoji="1" lang="ja-JP" altLang="en-US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影の多い道の案内する。</a:t>
            </a:r>
            <a:endParaRPr kumimoji="1"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r>
              <a:rPr kumimoji="1" lang="ja-JP" altLang="en-US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天気に基づき</a:t>
            </a:r>
            <a:r>
              <a:rPr lang="ja-JP" altLang="en-US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実際に歩いた場合に伴う熱中症の危険度やアドバイスをする。</a:t>
            </a:r>
            <a:endParaRPr kumimoji="1"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C0466FE-F926-366D-A769-3FE4F57AE575}"/>
              </a:ext>
            </a:extLst>
          </p:cNvPr>
          <p:cNvSpPr txBox="1"/>
          <p:nvPr/>
        </p:nvSpPr>
        <p:spPr>
          <a:xfrm>
            <a:off x="3399002" y="2870760"/>
            <a:ext cx="628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熱中症リスクの低減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72AB9D-8DD9-2817-E491-2E33FEF26E3B}"/>
              </a:ext>
            </a:extLst>
          </p:cNvPr>
          <p:cNvSpPr txBox="1"/>
          <p:nvPr/>
        </p:nvSpPr>
        <p:spPr>
          <a:xfrm>
            <a:off x="3399001" y="4152073"/>
            <a:ext cx="8792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主要エリアである和歌山駅周辺にフォーカス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12FFA147-09D0-89D8-63C0-626624D6F308}"/>
              </a:ext>
            </a:extLst>
          </p:cNvPr>
          <p:cNvGrpSpPr/>
          <p:nvPr/>
        </p:nvGrpSpPr>
        <p:grpSpPr>
          <a:xfrm>
            <a:off x="615094" y="5289187"/>
            <a:ext cx="2320088" cy="788343"/>
            <a:chOff x="1481849" y="2322698"/>
            <a:chExt cx="2320088" cy="788343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EEA6D7D-76F4-D10F-34E5-9470B86184FD}"/>
                </a:ext>
              </a:extLst>
            </p:cNvPr>
            <p:cNvSpPr txBox="1"/>
            <p:nvPr/>
          </p:nvSpPr>
          <p:spPr>
            <a:xfrm>
              <a:off x="1958761" y="2419910"/>
              <a:ext cx="1366264" cy="593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3200" dirty="0">
                  <a:latin typeface="源真ゴシック Medium" panose="020B0402020203020207" pitchFamily="50" charset="-128"/>
                  <a:ea typeface="源真ゴシック Medium" panose="020B0402020203020207" pitchFamily="50" charset="-128"/>
                  <a:cs typeface="源真ゴシック Medium" panose="020B0402020203020207" pitchFamily="50" charset="-128"/>
                </a:rPr>
                <a:t>内容</a:t>
              </a:r>
              <a:endParaRPr kumimoji="1" lang="en-US" altLang="ja-JP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B44BB023-7257-AC4A-12C8-FED645A5EA38}"/>
                </a:ext>
              </a:extLst>
            </p:cNvPr>
            <p:cNvSpPr/>
            <p:nvPr/>
          </p:nvSpPr>
          <p:spPr>
            <a:xfrm>
              <a:off x="1481849" y="2322698"/>
              <a:ext cx="2320088" cy="788343"/>
            </a:xfrm>
            <a:prstGeom prst="round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0B06DD1-97D0-6EDB-999C-93F8A2F25501}"/>
              </a:ext>
            </a:extLst>
          </p:cNvPr>
          <p:cNvGrpSpPr/>
          <p:nvPr/>
        </p:nvGrpSpPr>
        <p:grpSpPr>
          <a:xfrm>
            <a:off x="615094" y="2760329"/>
            <a:ext cx="2320088" cy="788343"/>
            <a:chOff x="342901" y="3861376"/>
            <a:chExt cx="2320088" cy="788343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FDF5A70-2A4D-0DBD-1F4D-BEFAAB8A7B92}"/>
                </a:ext>
              </a:extLst>
            </p:cNvPr>
            <p:cNvSpPr txBox="1"/>
            <p:nvPr/>
          </p:nvSpPr>
          <p:spPr>
            <a:xfrm>
              <a:off x="994651" y="3980145"/>
              <a:ext cx="1016588" cy="58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dirty="0">
                  <a:latin typeface="源真ゴシック Medium" panose="020B0402020203020207" pitchFamily="50" charset="-128"/>
                  <a:ea typeface="源真ゴシック Medium" panose="020B0402020203020207" pitchFamily="50" charset="-128"/>
                  <a:cs typeface="源真ゴシック Medium" panose="020B0402020203020207" pitchFamily="50" charset="-128"/>
                </a:rPr>
                <a:t>目的</a:t>
              </a:r>
              <a:endParaRPr kumimoji="1" lang="en-US" altLang="ja-JP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1A0B4D22-4AC5-903F-5C2F-73E9147E4BF0}"/>
                </a:ext>
              </a:extLst>
            </p:cNvPr>
            <p:cNvSpPr/>
            <p:nvPr/>
          </p:nvSpPr>
          <p:spPr>
            <a:xfrm>
              <a:off x="342901" y="3861376"/>
              <a:ext cx="2320088" cy="788343"/>
            </a:xfrm>
            <a:prstGeom prst="round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ADFA765-295E-DFB0-784C-015B1940C208}"/>
              </a:ext>
            </a:extLst>
          </p:cNvPr>
          <p:cNvGrpSpPr/>
          <p:nvPr/>
        </p:nvGrpSpPr>
        <p:grpSpPr>
          <a:xfrm>
            <a:off x="615094" y="3987158"/>
            <a:ext cx="2320088" cy="788343"/>
            <a:chOff x="342899" y="4821561"/>
            <a:chExt cx="2320088" cy="788343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EF6A0E0-763F-A555-A171-58E6DAFF3821}"/>
                </a:ext>
              </a:extLst>
            </p:cNvPr>
            <p:cNvSpPr txBox="1"/>
            <p:nvPr/>
          </p:nvSpPr>
          <p:spPr>
            <a:xfrm>
              <a:off x="382522" y="4924922"/>
              <a:ext cx="2240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>
                  <a:latin typeface="源真ゴシック Medium" panose="020B0402020203020207" pitchFamily="50" charset="-128"/>
                  <a:ea typeface="源真ゴシック Medium" panose="020B0402020203020207" pitchFamily="50" charset="-128"/>
                  <a:cs typeface="源真ゴシック Medium" panose="020B0402020203020207" pitchFamily="50" charset="-128"/>
                </a:rPr>
                <a:t>対象地域</a:t>
              </a:r>
              <a:endParaRPr kumimoji="1" lang="en-US" altLang="ja-JP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E05B1A85-9CF2-4671-D0BE-A560EA44CFD4}"/>
                </a:ext>
              </a:extLst>
            </p:cNvPr>
            <p:cNvSpPr/>
            <p:nvPr/>
          </p:nvSpPr>
          <p:spPr>
            <a:xfrm>
              <a:off x="342899" y="4821561"/>
              <a:ext cx="2320088" cy="788343"/>
            </a:xfrm>
            <a:prstGeom prst="round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3" name="図 22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E4F2C3E9-D6EA-E89F-D8CC-F1860F10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4" y="992484"/>
            <a:ext cx="2914750" cy="29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3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9A3B-6B1F-ACFB-2140-20165055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A30B7FA-6ACE-BBA3-08E4-9BC3E1A62B56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9EDFC0-2A3F-6838-BA93-746823D3B377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EE1224-3DF3-5C3B-A397-FDA80435C65F}"/>
              </a:ext>
            </a:extLst>
          </p:cNvPr>
          <p:cNvSpPr txBox="1"/>
          <p:nvPr/>
        </p:nvSpPr>
        <p:spPr>
          <a:xfrm>
            <a:off x="539496" y="160791"/>
            <a:ext cx="4096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2</a:t>
            </a:r>
            <a:r>
              <a:rPr kumimoji="1"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アプリの紹介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5" name="図 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4905D2D3-2DCB-BEBC-1C15-7EE5BEB2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490" y="2281788"/>
            <a:ext cx="2914750" cy="29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3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27A8-9E30-E044-9671-F2643714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5EEF622-2B76-DA51-1573-D5721F8AE9CF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1AEF2D-D832-A15C-C0EA-69B82042199B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1BFCE4-9873-EA4E-5EB6-0D053568CB93}"/>
              </a:ext>
            </a:extLst>
          </p:cNvPr>
          <p:cNvSpPr txBox="1"/>
          <p:nvPr/>
        </p:nvSpPr>
        <p:spPr>
          <a:xfrm>
            <a:off x="539496" y="160791"/>
            <a:ext cx="363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</a:t>
            </a:r>
            <a:r>
              <a:rPr kumimoji="1"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103303-6295-E1AE-AA15-0B0F25F5FCC5}"/>
              </a:ext>
            </a:extLst>
          </p:cNvPr>
          <p:cNvSpPr txBox="1"/>
          <p:nvPr/>
        </p:nvSpPr>
        <p:spPr>
          <a:xfrm>
            <a:off x="310896" y="1491940"/>
            <a:ext cx="2123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開発言語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770332-82A7-646A-A21B-1A57F9E718EF}"/>
              </a:ext>
            </a:extLst>
          </p:cNvPr>
          <p:cNvSpPr txBox="1"/>
          <p:nvPr/>
        </p:nvSpPr>
        <p:spPr>
          <a:xfrm>
            <a:off x="310894" y="2004488"/>
            <a:ext cx="2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フレームワーク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2394EB5-938E-25FF-3D10-21AD2500016A}"/>
              </a:ext>
            </a:extLst>
          </p:cNvPr>
          <p:cNvSpPr txBox="1"/>
          <p:nvPr/>
        </p:nvSpPr>
        <p:spPr>
          <a:xfrm>
            <a:off x="339614" y="2517036"/>
            <a:ext cx="2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地図データ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E879D32-BFD2-3B98-F30D-780A39081680}"/>
              </a:ext>
            </a:extLst>
          </p:cNvPr>
          <p:cNvSpPr txBox="1"/>
          <p:nvPr/>
        </p:nvSpPr>
        <p:spPr>
          <a:xfrm>
            <a:off x="308550" y="3543110"/>
            <a:ext cx="2382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地図ライブラリ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6D6ABA-A246-B5A8-5EBA-0FE0100376B4}"/>
              </a:ext>
            </a:extLst>
          </p:cNvPr>
          <p:cNvSpPr txBox="1"/>
          <p:nvPr/>
        </p:nvSpPr>
        <p:spPr>
          <a:xfrm>
            <a:off x="308550" y="5080056"/>
            <a:ext cx="2382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幾何学計算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5503C27-DD8B-EE52-BDC8-C1FC08463EA9}"/>
              </a:ext>
            </a:extLst>
          </p:cNvPr>
          <p:cNvSpPr txBox="1"/>
          <p:nvPr/>
        </p:nvSpPr>
        <p:spPr>
          <a:xfrm>
            <a:off x="341655" y="4568928"/>
            <a:ext cx="2382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グラフ理論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9209A4-D53F-21CD-A122-D23BD82E715F}"/>
              </a:ext>
            </a:extLst>
          </p:cNvPr>
          <p:cNvSpPr txBox="1"/>
          <p:nvPr/>
        </p:nvSpPr>
        <p:spPr>
          <a:xfrm>
            <a:off x="308550" y="6079922"/>
            <a:ext cx="2382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太陽軌道計算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4B5498-8FAB-8981-CF06-8BF3EEA6ECD3}"/>
              </a:ext>
            </a:extLst>
          </p:cNvPr>
          <p:cNvSpPr txBox="1"/>
          <p:nvPr/>
        </p:nvSpPr>
        <p:spPr>
          <a:xfrm>
            <a:off x="2747932" y="1491942"/>
            <a:ext cx="2123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Python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C316AF-8CBF-035C-E55A-D022FF8E391C}"/>
              </a:ext>
            </a:extLst>
          </p:cNvPr>
          <p:cNvSpPr txBox="1"/>
          <p:nvPr/>
        </p:nvSpPr>
        <p:spPr>
          <a:xfrm>
            <a:off x="2747932" y="2004488"/>
            <a:ext cx="2123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Streamlit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2B1ACF7-D134-26E3-5748-D5FEB92383EF}"/>
              </a:ext>
            </a:extLst>
          </p:cNvPr>
          <p:cNvSpPr txBox="1"/>
          <p:nvPr/>
        </p:nvSpPr>
        <p:spPr>
          <a:xfrm>
            <a:off x="2699054" y="2516639"/>
            <a:ext cx="2488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OpenStreetMap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801194-B878-06D3-5B67-3D26680C2CAC}"/>
              </a:ext>
            </a:extLst>
          </p:cNvPr>
          <p:cNvSpPr txBox="1"/>
          <p:nvPr/>
        </p:nvSpPr>
        <p:spPr>
          <a:xfrm>
            <a:off x="2747932" y="3541336"/>
            <a:ext cx="2488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Folium / Leaflet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3BFE616-302A-9631-43AE-0E626160F96D}"/>
              </a:ext>
            </a:extLst>
          </p:cNvPr>
          <p:cNvSpPr txBox="1"/>
          <p:nvPr/>
        </p:nvSpPr>
        <p:spPr>
          <a:xfrm>
            <a:off x="2747932" y="4567262"/>
            <a:ext cx="2488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NetworkX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5535B6B-65AA-E6FA-1E43-4EE339868EC3}"/>
              </a:ext>
            </a:extLst>
          </p:cNvPr>
          <p:cNvSpPr txBox="1"/>
          <p:nvPr/>
        </p:nvSpPr>
        <p:spPr>
          <a:xfrm>
            <a:off x="2747932" y="5080056"/>
            <a:ext cx="32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Shapely / </a:t>
            </a:r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GeoPandas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A745AFF-79C2-9E15-C21A-23352404782E}"/>
              </a:ext>
            </a:extLst>
          </p:cNvPr>
          <p:cNvSpPr txBox="1"/>
          <p:nvPr/>
        </p:nvSpPr>
        <p:spPr>
          <a:xfrm>
            <a:off x="2747932" y="6079922"/>
            <a:ext cx="32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Pysolar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2DB40C8-E9B6-1D7F-25B4-1D655EFADFB6}"/>
              </a:ext>
            </a:extLst>
          </p:cNvPr>
          <p:cNvSpPr txBox="1"/>
          <p:nvPr/>
        </p:nvSpPr>
        <p:spPr>
          <a:xfrm>
            <a:off x="6184552" y="1491940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データ処理からアプリ構築まで一貫して使用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B9B8C91-7D5F-4C5D-9E5C-A4F64E735B84}"/>
              </a:ext>
            </a:extLst>
          </p:cNvPr>
          <p:cNvSpPr txBox="1"/>
          <p:nvPr/>
        </p:nvSpPr>
        <p:spPr>
          <a:xfrm>
            <a:off x="6184552" y="2003066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フロントエンド構築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8B17624-B20B-3A55-28D1-ED49D9B90909}"/>
              </a:ext>
            </a:extLst>
          </p:cNvPr>
          <p:cNvSpPr txBox="1"/>
          <p:nvPr/>
        </p:nvSpPr>
        <p:spPr>
          <a:xfrm>
            <a:off x="6184552" y="2522776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道路網、建物形状、コンビニ情報の取得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B6D4261-E4F6-0854-60F9-879E6FAF6836}"/>
              </a:ext>
            </a:extLst>
          </p:cNvPr>
          <p:cNvSpPr txBox="1"/>
          <p:nvPr/>
        </p:nvSpPr>
        <p:spPr>
          <a:xfrm>
            <a:off x="6184552" y="3549215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ブラウザ上での地図表示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D0FB920-FD83-91D3-78BB-DC07B105C59F}"/>
              </a:ext>
            </a:extLst>
          </p:cNvPr>
          <p:cNvSpPr txBox="1"/>
          <p:nvPr/>
        </p:nvSpPr>
        <p:spPr>
          <a:xfrm>
            <a:off x="6184552" y="4567262"/>
            <a:ext cx="6083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道路網のデータ化と最短経路探索</a:t>
            </a:r>
            <a:r>
              <a:rPr kumimoji="1" lang="ja-JP" altLang="en-US" sz="16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（ダイクストラ法）</a:t>
            </a:r>
            <a:endParaRPr kumimoji="1" lang="en-US" altLang="ja-JP" sz="16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D23986D-43A0-D7DB-8C39-14E4429ECBD6}"/>
              </a:ext>
            </a:extLst>
          </p:cNvPr>
          <p:cNvSpPr txBox="1"/>
          <p:nvPr/>
        </p:nvSpPr>
        <p:spPr>
          <a:xfrm>
            <a:off x="6184552" y="5074334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影のポリゴン生成、道路との重なり判定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2DA092-BD5E-0C6B-C0DB-32D8E2185161}"/>
              </a:ext>
            </a:extLst>
          </p:cNvPr>
          <p:cNvSpPr txBox="1"/>
          <p:nvPr/>
        </p:nvSpPr>
        <p:spPr>
          <a:xfrm>
            <a:off x="6184552" y="6079922"/>
            <a:ext cx="634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日時と座標に基づく正確な太陽</a:t>
            </a:r>
            <a:r>
              <a:rPr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の</a:t>
            </a:r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高度・方位算出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DBEDD15-B11F-350A-9064-D63120604583}"/>
              </a:ext>
            </a:extLst>
          </p:cNvPr>
          <p:cNvSpPr/>
          <p:nvPr/>
        </p:nvSpPr>
        <p:spPr>
          <a:xfrm rot="5400000">
            <a:off x="-9277" y="3966710"/>
            <a:ext cx="5400000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5964A59-3FFC-42E3-CADD-6288E2E4E245}"/>
              </a:ext>
            </a:extLst>
          </p:cNvPr>
          <p:cNvSpPr/>
          <p:nvPr/>
        </p:nvSpPr>
        <p:spPr>
          <a:xfrm rot="5400000">
            <a:off x="3386999" y="3966709"/>
            <a:ext cx="5400000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6D2C05-ACCF-AB5A-8981-A10FF263B401}"/>
              </a:ext>
            </a:extLst>
          </p:cNvPr>
          <p:cNvSpPr txBox="1"/>
          <p:nvPr/>
        </p:nvSpPr>
        <p:spPr>
          <a:xfrm>
            <a:off x="2747932" y="3027125"/>
            <a:ext cx="2488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OSMnx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2A9FC9-C489-164E-EFD1-1FACAF5BCC06}"/>
              </a:ext>
            </a:extLst>
          </p:cNvPr>
          <p:cNvSpPr txBox="1"/>
          <p:nvPr/>
        </p:nvSpPr>
        <p:spPr>
          <a:xfrm>
            <a:off x="337306" y="3031796"/>
            <a:ext cx="2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データ取得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CF59FE-542F-9998-11D5-F36D993905A0}"/>
              </a:ext>
            </a:extLst>
          </p:cNvPr>
          <p:cNvSpPr txBox="1"/>
          <p:nvPr/>
        </p:nvSpPr>
        <p:spPr>
          <a:xfrm>
            <a:off x="6184552" y="3032298"/>
            <a:ext cx="6007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OSM</a:t>
            </a:r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から道路・建物を</a:t>
            </a:r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Python</a:t>
            </a:r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で扱える形で取得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CDC03A7-3C49-D776-8C15-BC1AA63C055C}"/>
              </a:ext>
            </a:extLst>
          </p:cNvPr>
          <p:cNvSpPr txBox="1"/>
          <p:nvPr/>
        </p:nvSpPr>
        <p:spPr>
          <a:xfrm>
            <a:off x="308550" y="4053585"/>
            <a:ext cx="2382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位置情報検索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C8A3FEB-3074-BD2F-A15F-2A7322810D99}"/>
              </a:ext>
            </a:extLst>
          </p:cNvPr>
          <p:cNvSpPr txBox="1"/>
          <p:nvPr/>
        </p:nvSpPr>
        <p:spPr>
          <a:xfrm>
            <a:off x="2747932" y="4051078"/>
            <a:ext cx="2488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Geopy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FA2FC19-B2F0-3888-D39B-C3193613B491}"/>
              </a:ext>
            </a:extLst>
          </p:cNvPr>
          <p:cNvSpPr txBox="1"/>
          <p:nvPr/>
        </p:nvSpPr>
        <p:spPr>
          <a:xfrm>
            <a:off x="6184552" y="4052264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地名入力による緯度経度の特定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CC66B3C-8F55-224A-434D-5524AD895E0C}"/>
              </a:ext>
            </a:extLst>
          </p:cNvPr>
          <p:cNvSpPr txBox="1"/>
          <p:nvPr/>
        </p:nvSpPr>
        <p:spPr>
          <a:xfrm>
            <a:off x="304050" y="5569447"/>
            <a:ext cx="2382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高速化演算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0D379F5-7397-B2EF-F923-BBD0AF63E505}"/>
              </a:ext>
            </a:extLst>
          </p:cNvPr>
          <p:cNvSpPr txBox="1"/>
          <p:nvPr/>
        </p:nvSpPr>
        <p:spPr>
          <a:xfrm>
            <a:off x="2747932" y="5569447"/>
            <a:ext cx="32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scikit-learn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9DB74C7-338E-76E0-D2F2-5FFDA2743C22}"/>
              </a:ext>
            </a:extLst>
          </p:cNvPr>
          <p:cNvSpPr txBox="1"/>
          <p:nvPr/>
        </p:nvSpPr>
        <p:spPr>
          <a:xfrm>
            <a:off x="6184552" y="5569447"/>
            <a:ext cx="552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KDTree</a:t>
            </a:r>
            <a:r>
              <a:rPr kumimoji="1" lang="ja-JP" altLang="en-US" sz="2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を用いた最寄り地点の高速検索</a:t>
            </a:r>
            <a:endParaRPr kumimoji="1" lang="en-US" altLang="ja-JP" sz="2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75D022B-534F-51E8-F793-3800A0083E25}"/>
              </a:ext>
            </a:extLst>
          </p:cNvPr>
          <p:cNvSpPr/>
          <p:nvPr/>
        </p:nvSpPr>
        <p:spPr>
          <a:xfrm>
            <a:off x="202691" y="1908063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D9CBFCA-BBF2-701D-B4E7-621B1A464CBE}"/>
              </a:ext>
            </a:extLst>
          </p:cNvPr>
          <p:cNvSpPr/>
          <p:nvPr/>
        </p:nvSpPr>
        <p:spPr>
          <a:xfrm>
            <a:off x="202691" y="2426716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324111C-25C7-336A-3D49-0B891D4AAC0B}"/>
              </a:ext>
            </a:extLst>
          </p:cNvPr>
          <p:cNvSpPr/>
          <p:nvPr/>
        </p:nvSpPr>
        <p:spPr>
          <a:xfrm>
            <a:off x="208787" y="2953327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8E1429E-9A34-044B-0274-A4AD11AE9904}"/>
              </a:ext>
            </a:extLst>
          </p:cNvPr>
          <p:cNvSpPr/>
          <p:nvPr/>
        </p:nvSpPr>
        <p:spPr>
          <a:xfrm>
            <a:off x="202691" y="3491411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6FADB66-CCDA-77AC-43AE-F180FD9B8939}"/>
              </a:ext>
            </a:extLst>
          </p:cNvPr>
          <p:cNvSpPr/>
          <p:nvPr/>
        </p:nvSpPr>
        <p:spPr>
          <a:xfrm>
            <a:off x="202691" y="3991040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6B95623-15D4-3CAD-F945-A3486274ABA4}"/>
              </a:ext>
            </a:extLst>
          </p:cNvPr>
          <p:cNvSpPr/>
          <p:nvPr/>
        </p:nvSpPr>
        <p:spPr>
          <a:xfrm>
            <a:off x="184691" y="4506447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C8108ED-0A43-DCEA-DCBD-4B5ED2882138}"/>
              </a:ext>
            </a:extLst>
          </p:cNvPr>
          <p:cNvSpPr/>
          <p:nvPr/>
        </p:nvSpPr>
        <p:spPr>
          <a:xfrm>
            <a:off x="202691" y="4996714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771BC5D-87D9-84B7-36F1-42E742FA5844}"/>
              </a:ext>
            </a:extLst>
          </p:cNvPr>
          <p:cNvSpPr/>
          <p:nvPr/>
        </p:nvSpPr>
        <p:spPr>
          <a:xfrm>
            <a:off x="202691" y="5516064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8594D2B-7292-BB37-83CC-D13B6B760E7E}"/>
              </a:ext>
            </a:extLst>
          </p:cNvPr>
          <p:cNvSpPr/>
          <p:nvPr/>
        </p:nvSpPr>
        <p:spPr>
          <a:xfrm>
            <a:off x="204977" y="6014580"/>
            <a:ext cx="11786616" cy="18000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934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897-393A-BE86-AA4C-1DF2D755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72A56A-09F8-FD03-4201-1658416A5B99}"/>
              </a:ext>
            </a:extLst>
          </p:cNvPr>
          <p:cNvSpPr/>
          <p:nvPr/>
        </p:nvSpPr>
        <p:spPr>
          <a:xfrm>
            <a:off x="5623560" y="1481328"/>
            <a:ext cx="6016752" cy="734664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098D651-08A2-2B8B-6C2A-E00772E3792A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5D608-4376-1DDC-2EDC-A7F7A207CC88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C9B401-B3A3-B3CD-2D6C-359C872C7CE0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D54DF4-BFED-308F-AD5F-A04F7222F8A9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D96298D-78F4-9622-E10D-6C602F0CFEC9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79E29CB-2C0C-131E-8DCE-3A8CD02983D9}"/>
              </a:ext>
            </a:extLst>
          </p:cNvPr>
          <p:cNvCxnSpPr>
            <a:cxnSpLocks/>
          </p:cNvCxnSpPr>
          <p:nvPr/>
        </p:nvCxnSpPr>
        <p:spPr>
          <a:xfrm flipV="1">
            <a:off x="4054221" y="1848660"/>
            <a:ext cx="1499616" cy="621792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E82CB2E-6201-39F9-FC18-7B69CF6694B2}"/>
              </a:ext>
            </a:extLst>
          </p:cNvPr>
          <p:cNvSpPr txBox="1"/>
          <p:nvPr/>
        </p:nvSpPr>
        <p:spPr>
          <a:xfrm>
            <a:off x="357378" y="2562153"/>
            <a:ext cx="46649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太陽高度と太陽方位角の取得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FD31F79-D6FB-CEE7-62CC-746FF94B34FC}"/>
              </a:ext>
            </a:extLst>
          </p:cNvPr>
          <p:cNvCxnSpPr/>
          <p:nvPr/>
        </p:nvCxnSpPr>
        <p:spPr>
          <a:xfrm>
            <a:off x="2539670" y="5009106"/>
            <a:ext cx="523570" cy="422430"/>
          </a:xfrm>
          <a:prstGeom prst="straightConnector1">
            <a:avLst/>
          </a:prstGeom>
          <a:ln w="76200">
            <a:solidFill>
              <a:srgbClr val="F29B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A9E1822-3E35-6629-ABD6-219D39500F81}"/>
              </a:ext>
            </a:extLst>
          </p:cNvPr>
          <p:cNvCxnSpPr>
            <a:cxnSpLocks/>
          </p:cNvCxnSpPr>
          <p:nvPr/>
        </p:nvCxnSpPr>
        <p:spPr>
          <a:xfrm flipV="1">
            <a:off x="1499616" y="4980291"/>
            <a:ext cx="2194560" cy="2881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B2D56DE-AF00-DB5C-08DF-84C04210B915}"/>
              </a:ext>
            </a:extLst>
          </p:cNvPr>
          <p:cNvCxnSpPr>
            <a:cxnSpLocks/>
          </p:cNvCxnSpPr>
          <p:nvPr/>
        </p:nvCxnSpPr>
        <p:spPr>
          <a:xfrm flipH="1" flipV="1">
            <a:off x="2539670" y="4242816"/>
            <a:ext cx="41148" cy="147495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70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05BF-2FA7-6547-D6FB-4FB7E809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F2B670-4F89-F9E5-5E0D-B081E564E33C}"/>
              </a:ext>
            </a:extLst>
          </p:cNvPr>
          <p:cNvSpPr/>
          <p:nvPr/>
        </p:nvSpPr>
        <p:spPr>
          <a:xfrm>
            <a:off x="5623560" y="2926080"/>
            <a:ext cx="6016752" cy="265176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5ABEE0-9BD2-47C9-3D8B-7209C751A0EF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B3F380-16BA-F9E1-3F7C-43E978633D62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ED2447-D3E6-0965-05CE-1909C958E7D1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E42764-D332-B30D-686D-E0F1ECCC110E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2993176-D348-97CD-71CC-15BF7866324B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DA83F80-8903-443C-7C4E-B619A3C84344}"/>
              </a:ext>
            </a:extLst>
          </p:cNvPr>
          <p:cNvCxnSpPr>
            <a:cxnSpLocks/>
          </p:cNvCxnSpPr>
          <p:nvPr/>
        </p:nvCxnSpPr>
        <p:spPr>
          <a:xfrm flipV="1">
            <a:off x="3992499" y="3058668"/>
            <a:ext cx="1499616" cy="621792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66C9AF-6D51-8EED-F609-DA27250C8E1C}"/>
              </a:ext>
            </a:extLst>
          </p:cNvPr>
          <p:cNvSpPr txBox="1"/>
          <p:nvPr/>
        </p:nvSpPr>
        <p:spPr>
          <a:xfrm>
            <a:off x="213360" y="3837481"/>
            <a:ext cx="50078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影の長さ倍率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影の長さ </a:t>
            </a:r>
            <a:r>
              <a:rPr kumimoji="1" lang="en-US" altLang="ja-JP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= </a:t>
            </a:r>
            <a:r>
              <a:rPr kumimoji="1" lang="ja-JP" altLang="en-US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建物の高さ </a:t>
            </a:r>
            <a:r>
              <a:rPr kumimoji="1" lang="en-US" altLang="ja-JP" sz="24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× </a:t>
            </a:r>
            <a:r>
              <a:rPr kumimoji="1" lang="ja-JP" altLang="en-US" sz="2400" dirty="0">
                <a:solidFill>
                  <a:srgbClr val="000000"/>
                </a:solidFill>
                <a:highlight>
                  <a:srgbClr val="F29B8F"/>
                </a:highlight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倍率</a:t>
            </a:r>
            <a:endParaRPr kumimoji="1" lang="en-US" altLang="ja-JP" sz="2400" dirty="0">
              <a:solidFill>
                <a:srgbClr val="000000"/>
              </a:solidFill>
              <a:highlight>
                <a:srgbClr val="F29B8F"/>
              </a:highlight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721B04E-3282-930B-5878-968DA8DE3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19" y="1235900"/>
            <a:ext cx="1889818" cy="21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9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35BF8-FDB2-8A7F-83FA-1A578069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7D5F50D-B525-87C1-46FB-B9DE35856299}"/>
              </a:ext>
            </a:extLst>
          </p:cNvPr>
          <p:cNvSpPr/>
          <p:nvPr/>
        </p:nvSpPr>
        <p:spPr>
          <a:xfrm>
            <a:off x="5623560" y="3163824"/>
            <a:ext cx="6016752" cy="265176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7753C9-0F6A-3361-9EF5-B38066A20FD1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028A20-0324-D334-D558-72337211E52F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9C06E4-EDB3-4E67-123D-94D51CF10678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AA1F8B-DB6B-3420-0935-259083A71F28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2C86B18-B381-EB08-7E80-187299D7CE1F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61EB363-6D12-2270-2211-3F15021C3B60}"/>
              </a:ext>
            </a:extLst>
          </p:cNvPr>
          <p:cNvCxnSpPr>
            <a:cxnSpLocks/>
          </p:cNvCxnSpPr>
          <p:nvPr/>
        </p:nvCxnSpPr>
        <p:spPr>
          <a:xfrm flipV="1">
            <a:off x="3992499" y="3337801"/>
            <a:ext cx="1499616" cy="621792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88523B-04F6-8C16-33B7-8D93033FB037}"/>
              </a:ext>
            </a:extLst>
          </p:cNvPr>
          <p:cNvSpPr txBox="1"/>
          <p:nvPr/>
        </p:nvSpPr>
        <p:spPr>
          <a:xfrm>
            <a:off x="213360" y="3798980"/>
            <a:ext cx="5007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影の向きを求める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endParaRPr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「</a:t>
            </a:r>
            <a:r>
              <a:rPr lang="en-US" altLang="ja-JP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180°</a:t>
            </a:r>
            <a:r>
              <a:rPr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ー太陽の向き」となる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DF46196-C946-461B-43A8-472E2F73D70D}"/>
              </a:ext>
            </a:extLst>
          </p:cNvPr>
          <p:cNvCxnSpPr/>
          <p:nvPr/>
        </p:nvCxnSpPr>
        <p:spPr>
          <a:xfrm>
            <a:off x="2539670" y="2695674"/>
            <a:ext cx="523570" cy="422430"/>
          </a:xfrm>
          <a:prstGeom prst="straightConnector1">
            <a:avLst/>
          </a:prstGeom>
          <a:ln w="76200">
            <a:solidFill>
              <a:srgbClr val="F29B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9F1CB6C-518E-DEC7-4CB0-83DF3B2ABDD7}"/>
              </a:ext>
            </a:extLst>
          </p:cNvPr>
          <p:cNvCxnSpPr>
            <a:cxnSpLocks/>
          </p:cNvCxnSpPr>
          <p:nvPr/>
        </p:nvCxnSpPr>
        <p:spPr>
          <a:xfrm flipH="1" flipV="1">
            <a:off x="1956816" y="2203704"/>
            <a:ext cx="582854" cy="491970"/>
          </a:xfrm>
          <a:prstGeom prst="straightConnector1">
            <a:avLst/>
          </a:prstGeom>
          <a:ln w="76200">
            <a:solidFill>
              <a:srgbClr val="809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F0825D8-6111-DE96-18A7-DC45EE196362}"/>
              </a:ext>
            </a:extLst>
          </p:cNvPr>
          <p:cNvCxnSpPr>
            <a:cxnSpLocks/>
          </p:cNvCxnSpPr>
          <p:nvPr/>
        </p:nvCxnSpPr>
        <p:spPr>
          <a:xfrm flipV="1">
            <a:off x="1538897" y="2695674"/>
            <a:ext cx="2100415" cy="54208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497FD24-5A44-DCFC-3EAF-A96D39FE05C5}"/>
              </a:ext>
            </a:extLst>
          </p:cNvPr>
          <p:cNvCxnSpPr>
            <a:cxnSpLocks/>
          </p:cNvCxnSpPr>
          <p:nvPr/>
        </p:nvCxnSpPr>
        <p:spPr>
          <a:xfrm flipH="1" flipV="1">
            <a:off x="2505799" y="2041222"/>
            <a:ext cx="67742" cy="141732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00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97C91-8954-FD88-2D3E-2097B58E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AB51E9-BCE9-FFA4-8A6E-E7A11D913E85}"/>
              </a:ext>
            </a:extLst>
          </p:cNvPr>
          <p:cNvSpPr/>
          <p:nvPr/>
        </p:nvSpPr>
        <p:spPr>
          <a:xfrm>
            <a:off x="5623560" y="3429000"/>
            <a:ext cx="6016752" cy="493776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C7B22D2-B360-F7B5-0B14-306D1081F670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EE50FF-FEB4-7869-E8D5-76881671307E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4B9F5D-6776-426E-4D46-394EB078556E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01746B-0911-BD84-2B40-94DEEC2DD010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979B46B-7668-4319-A277-316AE1AA9062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768B820-685C-F9D3-FB9B-CBE9BAF361D2}"/>
              </a:ext>
            </a:extLst>
          </p:cNvPr>
          <p:cNvCxnSpPr>
            <a:cxnSpLocks/>
          </p:cNvCxnSpPr>
          <p:nvPr/>
        </p:nvCxnSpPr>
        <p:spPr>
          <a:xfrm flipV="1">
            <a:off x="3992499" y="3665060"/>
            <a:ext cx="1499616" cy="621792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491EB7-53AA-6B9A-B451-ABD8ECAC825D}"/>
              </a:ext>
            </a:extLst>
          </p:cNvPr>
          <p:cNvSpPr txBox="1"/>
          <p:nvPr/>
        </p:nvSpPr>
        <p:spPr>
          <a:xfrm>
            <a:off x="213360" y="4424623"/>
            <a:ext cx="5007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影の「斜めの長さ」を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地図上の横</a:t>
            </a:r>
            <a:r>
              <a:rPr kumimoji="1" lang="en-US" altLang="ja-JP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(x)</a:t>
            </a:r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と縦</a:t>
            </a:r>
            <a:r>
              <a:rPr kumimoji="1" lang="en-US" altLang="ja-JP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(y)</a:t>
            </a:r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の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成分に分解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CDA42A8-24DC-B0A5-A575-1A0405991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44754"/>
            <a:ext cx="4392006" cy="275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76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DC5B1-CBCF-2621-84B1-DD252709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FA0E779-C5BA-417B-8621-EBE439DC87F8}"/>
              </a:ext>
            </a:extLst>
          </p:cNvPr>
          <p:cNvSpPr/>
          <p:nvPr/>
        </p:nvSpPr>
        <p:spPr>
          <a:xfrm>
            <a:off x="5623560" y="4882896"/>
            <a:ext cx="6016752" cy="734664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32CF8A-C6FA-DB66-497A-7318E3B1A9BB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13C8BE-DC78-4276-7241-252F4D26BA84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30DF9F-29A9-DB0E-2C82-94CCFFD24C30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1A6D93-9B16-9557-C939-5D846A6D7DD0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4359285-3741-01DA-BFE2-34E6643C5D86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1C6D6EB-F2F9-6E46-36FA-AC5AA68C26DB}"/>
              </a:ext>
            </a:extLst>
          </p:cNvPr>
          <p:cNvCxnSpPr>
            <a:cxnSpLocks/>
          </p:cNvCxnSpPr>
          <p:nvPr/>
        </p:nvCxnSpPr>
        <p:spPr>
          <a:xfrm>
            <a:off x="3878981" y="4629752"/>
            <a:ext cx="1613134" cy="498351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71D084-8378-737F-729E-9EECBCB1B5DD}"/>
              </a:ext>
            </a:extLst>
          </p:cNvPr>
          <p:cNvSpPr txBox="1"/>
          <p:nvPr/>
        </p:nvSpPr>
        <p:spPr>
          <a:xfrm>
            <a:off x="112174" y="3467064"/>
            <a:ext cx="5007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建物の地面の形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（座標リスト）を取得</a:t>
            </a:r>
            <a:endParaRPr kumimoji="1"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0" name="フローチャート: 結合子 9">
            <a:extLst>
              <a:ext uri="{FF2B5EF4-FFF2-40B4-BE49-F238E27FC236}">
                <a16:creationId xmlns:a16="http://schemas.microsoft.com/office/drawing/2014/main" id="{F9DC6DAB-BE1A-F5F1-52DB-643C098B239A}"/>
              </a:ext>
            </a:extLst>
          </p:cNvPr>
          <p:cNvSpPr/>
          <p:nvPr/>
        </p:nvSpPr>
        <p:spPr>
          <a:xfrm>
            <a:off x="1399032" y="1664208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ローチャート: 結合子 10">
            <a:extLst>
              <a:ext uri="{FF2B5EF4-FFF2-40B4-BE49-F238E27FC236}">
                <a16:creationId xmlns:a16="http://schemas.microsoft.com/office/drawing/2014/main" id="{715FA1A0-7DF8-776A-2DE1-AC083651E6A5}"/>
              </a:ext>
            </a:extLst>
          </p:cNvPr>
          <p:cNvSpPr/>
          <p:nvPr/>
        </p:nvSpPr>
        <p:spPr>
          <a:xfrm>
            <a:off x="2741275" y="1658861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ローチャート: 結合子 11">
            <a:extLst>
              <a:ext uri="{FF2B5EF4-FFF2-40B4-BE49-F238E27FC236}">
                <a16:creationId xmlns:a16="http://schemas.microsoft.com/office/drawing/2014/main" id="{06BE5F84-4F06-9D7A-C843-29BC6276C3F5}"/>
              </a:ext>
            </a:extLst>
          </p:cNvPr>
          <p:cNvSpPr/>
          <p:nvPr/>
        </p:nvSpPr>
        <p:spPr>
          <a:xfrm>
            <a:off x="1399032" y="2574363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結合子 12">
            <a:extLst>
              <a:ext uri="{FF2B5EF4-FFF2-40B4-BE49-F238E27FC236}">
                <a16:creationId xmlns:a16="http://schemas.microsoft.com/office/drawing/2014/main" id="{8B4029B0-8F3D-A7E7-5966-E3D4B8A0F95E}"/>
              </a:ext>
            </a:extLst>
          </p:cNvPr>
          <p:cNvSpPr/>
          <p:nvPr/>
        </p:nvSpPr>
        <p:spPr>
          <a:xfrm>
            <a:off x="2741275" y="2609831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8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D0E8-84CE-1F98-EC88-5E40B894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C268464-6A56-C4BA-57FC-840C7E583DBA}"/>
              </a:ext>
            </a:extLst>
          </p:cNvPr>
          <p:cNvSpPr/>
          <p:nvPr/>
        </p:nvSpPr>
        <p:spPr>
          <a:xfrm>
            <a:off x="5623560" y="5614416"/>
            <a:ext cx="6016752" cy="266620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EF39B5-82B0-486D-0AB2-603ADCE483C5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E11909-375D-7A27-156A-BA7BD9F4E4E5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FC974B-F813-ACDE-6717-D7377092C32A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DE1627-6EB9-A1C6-196A-64B89CF695C6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7D612F7-5A02-7E95-C475-F5C29CA46518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3CD4B0B-89CA-3505-16EF-73ED626025CB}"/>
              </a:ext>
            </a:extLst>
          </p:cNvPr>
          <p:cNvCxnSpPr>
            <a:cxnSpLocks/>
          </p:cNvCxnSpPr>
          <p:nvPr/>
        </p:nvCxnSpPr>
        <p:spPr>
          <a:xfrm>
            <a:off x="3878981" y="5053264"/>
            <a:ext cx="1613134" cy="498351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F45EED-647F-3570-E670-1EA239365239}"/>
              </a:ext>
            </a:extLst>
          </p:cNvPr>
          <p:cNvSpPr txBox="1"/>
          <p:nvPr/>
        </p:nvSpPr>
        <p:spPr>
          <a:xfrm>
            <a:off x="6296" y="3601814"/>
            <a:ext cx="5007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屋根の形を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「影のベクトル」分だけずらす</a:t>
            </a:r>
            <a:endParaRPr kumimoji="1"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0" name="フローチャート: 結合子 9">
            <a:extLst>
              <a:ext uri="{FF2B5EF4-FFF2-40B4-BE49-F238E27FC236}">
                <a16:creationId xmlns:a16="http://schemas.microsoft.com/office/drawing/2014/main" id="{C6C30086-EC5B-A41E-E0C2-52E3D638F46E}"/>
              </a:ext>
            </a:extLst>
          </p:cNvPr>
          <p:cNvSpPr/>
          <p:nvPr/>
        </p:nvSpPr>
        <p:spPr>
          <a:xfrm>
            <a:off x="1399032" y="1664208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ローチャート: 結合子 10">
            <a:extLst>
              <a:ext uri="{FF2B5EF4-FFF2-40B4-BE49-F238E27FC236}">
                <a16:creationId xmlns:a16="http://schemas.microsoft.com/office/drawing/2014/main" id="{EE10A33E-C496-3BF1-6CE4-0E6B01E4B9DC}"/>
              </a:ext>
            </a:extLst>
          </p:cNvPr>
          <p:cNvSpPr/>
          <p:nvPr/>
        </p:nvSpPr>
        <p:spPr>
          <a:xfrm>
            <a:off x="2741275" y="1658861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ローチャート: 結合子 11">
            <a:extLst>
              <a:ext uri="{FF2B5EF4-FFF2-40B4-BE49-F238E27FC236}">
                <a16:creationId xmlns:a16="http://schemas.microsoft.com/office/drawing/2014/main" id="{BCCF4E27-8408-EB1E-76E9-8E6C0DEEDA1E}"/>
              </a:ext>
            </a:extLst>
          </p:cNvPr>
          <p:cNvSpPr/>
          <p:nvPr/>
        </p:nvSpPr>
        <p:spPr>
          <a:xfrm>
            <a:off x="1399032" y="2574363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結合子 12">
            <a:extLst>
              <a:ext uri="{FF2B5EF4-FFF2-40B4-BE49-F238E27FC236}">
                <a16:creationId xmlns:a16="http://schemas.microsoft.com/office/drawing/2014/main" id="{456642CE-E352-CFB0-ABD7-61A2C6A6F5EE}"/>
              </a:ext>
            </a:extLst>
          </p:cNvPr>
          <p:cNvSpPr/>
          <p:nvPr/>
        </p:nvSpPr>
        <p:spPr>
          <a:xfrm>
            <a:off x="2741275" y="2609831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13">
            <a:extLst>
              <a:ext uri="{FF2B5EF4-FFF2-40B4-BE49-F238E27FC236}">
                <a16:creationId xmlns:a16="http://schemas.microsoft.com/office/drawing/2014/main" id="{062C1C09-D6C9-6F97-3116-B5C02DEB058C}"/>
              </a:ext>
            </a:extLst>
          </p:cNvPr>
          <p:cNvSpPr/>
          <p:nvPr/>
        </p:nvSpPr>
        <p:spPr>
          <a:xfrm>
            <a:off x="1834896" y="2026920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14">
            <a:extLst>
              <a:ext uri="{FF2B5EF4-FFF2-40B4-BE49-F238E27FC236}">
                <a16:creationId xmlns:a16="http://schemas.microsoft.com/office/drawing/2014/main" id="{45F28BDA-4878-D699-1253-465941DBE32C}"/>
              </a:ext>
            </a:extLst>
          </p:cNvPr>
          <p:cNvSpPr/>
          <p:nvPr/>
        </p:nvSpPr>
        <p:spPr>
          <a:xfrm>
            <a:off x="3177139" y="2021573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ローチャート: 結合子 15">
            <a:extLst>
              <a:ext uri="{FF2B5EF4-FFF2-40B4-BE49-F238E27FC236}">
                <a16:creationId xmlns:a16="http://schemas.microsoft.com/office/drawing/2014/main" id="{BDC16E21-EC83-B1B9-5112-8B47042E0179}"/>
              </a:ext>
            </a:extLst>
          </p:cNvPr>
          <p:cNvSpPr/>
          <p:nvPr/>
        </p:nvSpPr>
        <p:spPr>
          <a:xfrm>
            <a:off x="1834896" y="2937075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結合子 16">
            <a:extLst>
              <a:ext uri="{FF2B5EF4-FFF2-40B4-BE49-F238E27FC236}">
                <a16:creationId xmlns:a16="http://schemas.microsoft.com/office/drawing/2014/main" id="{B68ECE16-6DC0-8ECB-2A02-D7A9C956428D}"/>
              </a:ext>
            </a:extLst>
          </p:cNvPr>
          <p:cNvSpPr/>
          <p:nvPr/>
        </p:nvSpPr>
        <p:spPr>
          <a:xfrm>
            <a:off x="3177139" y="2972543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169F-F39F-C86B-B50C-61057BB6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16B4D7-F571-433D-88CC-AD3092B10FF4}"/>
              </a:ext>
            </a:extLst>
          </p:cNvPr>
          <p:cNvSpPr/>
          <p:nvPr/>
        </p:nvSpPr>
        <p:spPr>
          <a:xfrm>
            <a:off x="5623560" y="5845423"/>
            <a:ext cx="6016752" cy="266620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FC2E70-67E5-D2C0-DCAF-1DF5911053E2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09F94F-8E9F-8665-9999-FFB57B06A884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C91023-361A-8270-96A5-F9ED434A1B21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533E30-9B7F-ED1C-E407-251F62BB6B2C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FC24DA4-80DA-1F2C-0EC9-E75C009CF407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932D957-4297-CDDD-675A-D20BE7000D9D}"/>
              </a:ext>
            </a:extLst>
          </p:cNvPr>
          <p:cNvCxnSpPr>
            <a:cxnSpLocks/>
          </p:cNvCxnSpPr>
          <p:nvPr/>
        </p:nvCxnSpPr>
        <p:spPr>
          <a:xfrm>
            <a:off x="3878981" y="5265020"/>
            <a:ext cx="1613134" cy="498351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29C921-32FF-917B-58B9-9B31A500B79F}"/>
              </a:ext>
            </a:extLst>
          </p:cNvPr>
          <p:cNvSpPr txBox="1"/>
          <p:nvPr/>
        </p:nvSpPr>
        <p:spPr>
          <a:xfrm>
            <a:off x="6296" y="4034952"/>
            <a:ext cx="5007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地面とズラした屋根を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まとめて「凸包」を作る</a:t>
            </a:r>
            <a:endParaRPr kumimoji="1"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0" name="フローチャート: 結合子 9">
            <a:extLst>
              <a:ext uri="{FF2B5EF4-FFF2-40B4-BE49-F238E27FC236}">
                <a16:creationId xmlns:a16="http://schemas.microsoft.com/office/drawing/2014/main" id="{74BC20D6-DC10-2A4C-2A4D-0E802CA3A0B4}"/>
              </a:ext>
            </a:extLst>
          </p:cNvPr>
          <p:cNvSpPr/>
          <p:nvPr/>
        </p:nvSpPr>
        <p:spPr>
          <a:xfrm>
            <a:off x="1399032" y="1664208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ローチャート: 結合子 10">
            <a:extLst>
              <a:ext uri="{FF2B5EF4-FFF2-40B4-BE49-F238E27FC236}">
                <a16:creationId xmlns:a16="http://schemas.microsoft.com/office/drawing/2014/main" id="{FE29E8B5-B960-80F0-EE2D-E7FA9A1E7444}"/>
              </a:ext>
            </a:extLst>
          </p:cNvPr>
          <p:cNvSpPr/>
          <p:nvPr/>
        </p:nvSpPr>
        <p:spPr>
          <a:xfrm>
            <a:off x="2741275" y="1658861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ローチャート: 結合子 11">
            <a:extLst>
              <a:ext uri="{FF2B5EF4-FFF2-40B4-BE49-F238E27FC236}">
                <a16:creationId xmlns:a16="http://schemas.microsoft.com/office/drawing/2014/main" id="{E40D3AEC-67A5-BFFC-F7F8-9ED207AAFFEF}"/>
              </a:ext>
            </a:extLst>
          </p:cNvPr>
          <p:cNvSpPr/>
          <p:nvPr/>
        </p:nvSpPr>
        <p:spPr>
          <a:xfrm>
            <a:off x="1399032" y="2574363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結合子 12">
            <a:extLst>
              <a:ext uri="{FF2B5EF4-FFF2-40B4-BE49-F238E27FC236}">
                <a16:creationId xmlns:a16="http://schemas.microsoft.com/office/drawing/2014/main" id="{B23A2FC2-9E40-A712-3264-21CD5D3F1F9E}"/>
              </a:ext>
            </a:extLst>
          </p:cNvPr>
          <p:cNvSpPr/>
          <p:nvPr/>
        </p:nvSpPr>
        <p:spPr>
          <a:xfrm>
            <a:off x="2741275" y="2609831"/>
            <a:ext cx="144000" cy="1440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13">
            <a:extLst>
              <a:ext uri="{FF2B5EF4-FFF2-40B4-BE49-F238E27FC236}">
                <a16:creationId xmlns:a16="http://schemas.microsoft.com/office/drawing/2014/main" id="{FC336337-854F-06B5-9CF9-3AEBEE502E47}"/>
              </a:ext>
            </a:extLst>
          </p:cNvPr>
          <p:cNvSpPr/>
          <p:nvPr/>
        </p:nvSpPr>
        <p:spPr>
          <a:xfrm>
            <a:off x="1834896" y="2026920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14">
            <a:extLst>
              <a:ext uri="{FF2B5EF4-FFF2-40B4-BE49-F238E27FC236}">
                <a16:creationId xmlns:a16="http://schemas.microsoft.com/office/drawing/2014/main" id="{92AB6E3F-692D-6AB0-B8FC-CA9CC0648EE7}"/>
              </a:ext>
            </a:extLst>
          </p:cNvPr>
          <p:cNvSpPr/>
          <p:nvPr/>
        </p:nvSpPr>
        <p:spPr>
          <a:xfrm>
            <a:off x="3177139" y="2021573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ローチャート: 結合子 15">
            <a:extLst>
              <a:ext uri="{FF2B5EF4-FFF2-40B4-BE49-F238E27FC236}">
                <a16:creationId xmlns:a16="http://schemas.microsoft.com/office/drawing/2014/main" id="{00392F9C-FFAE-27CE-8887-17367D23D3A5}"/>
              </a:ext>
            </a:extLst>
          </p:cNvPr>
          <p:cNvSpPr/>
          <p:nvPr/>
        </p:nvSpPr>
        <p:spPr>
          <a:xfrm>
            <a:off x="1834896" y="2937075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結合子 16">
            <a:extLst>
              <a:ext uri="{FF2B5EF4-FFF2-40B4-BE49-F238E27FC236}">
                <a16:creationId xmlns:a16="http://schemas.microsoft.com/office/drawing/2014/main" id="{753DB144-2F13-62A1-2BAE-9502D9F3E214}"/>
              </a:ext>
            </a:extLst>
          </p:cNvPr>
          <p:cNvSpPr/>
          <p:nvPr/>
        </p:nvSpPr>
        <p:spPr>
          <a:xfrm>
            <a:off x="3177139" y="2972543"/>
            <a:ext cx="144000" cy="144000"/>
          </a:xfrm>
          <a:prstGeom prst="flowChartConnector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E766133-7F4A-4C8F-B7B1-868E186F7B96}"/>
              </a:ext>
            </a:extLst>
          </p:cNvPr>
          <p:cNvSpPr/>
          <p:nvPr/>
        </p:nvSpPr>
        <p:spPr>
          <a:xfrm>
            <a:off x="1911096" y="2113015"/>
            <a:ext cx="1344168" cy="868672"/>
          </a:xfrm>
          <a:prstGeom prst="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75EA594-FBA7-AE8A-C684-7F30C4D71EA8}"/>
              </a:ext>
            </a:extLst>
          </p:cNvPr>
          <p:cNvCxnSpPr/>
          <p:nvPr/>
        </p:nvCxnSpPr>
        <p:spPr>
          <a:xfrm flipH="1">
            <a:off x="1978896" y="2231136"/>
            <a:ext cx="206520" cy="173736"/>
          </a:xfrm>
          <a:prstGeom prst="line">
            <a:avLst/>
          </a:prstGeom>
          <a:ln>
            <a:solidFill>
              <a:srgbClr val="809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DD13849-BEEB-59D2-54B8-F4D43421E766}"/>
              </a:ext>
            </a:extLst>
          </p:cNvPr>
          <p:cNvCxnSpPr>
            <a:cxnSpLocks/>
          </p:cNvCxnSpPr>
          <p:nvPr/>
        </p:nvCxnSpPr>
        <p:spPr>
          <a:xfrm flipH="1">
            <a:off x="1978896" y="2231136"/>
            <a:ext cx="553992" cy="487227"/>
          </a:xfrm>
          <a:prstGeom prst="line">
            <a:avLst/>
          </a:prstGeom>
          <a:ln>
            <a:solidFill>
              <a:srgbClr val="809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7DEB46D-DB08-1D91-7767-FFBB297CFF2E}"/>
              </a:ext>
            </a:extLst>
          </p:cNvPr>
          <p:cNvCxnSpPr>
            <a:cxnSpLocks/>
          </p:cNvCxnSpPr>
          <p:nvPr/>
        </p:nvCxnSpPr>
        <p:spPr>
          <a:xfrm flipH="1">
            <a:off x="2131296" y="2231136"/>
            <a:ext cx="753979" cy="639627"/>
          </a:xfrm>
          <a:prstGeom prst="line">
            <a:avLst/>
          </a:prstGeom>
          <a:ln>
            <a:solidFill>
              <a:srgbClr val="809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0B2F253-A3E1-86CF-9361-3FB1BF9431BD}"/>
              </a:ext>
            </a:extLst>
          </p:cNvPr>
          <p:cNvCxnSpPr>
            <a:cxnSpLocks/>
          </p:cNvCxnSpPr>
          <p:nvPr/>
        </p:nvCxnSpPr>
        <p:spPr>
          <a:xfrm flipH="1">
            <a:off x="2432086" y="2318004"/>
            <a:ext cx="745053" cy="643972"/>
          </a:xfrm>
          <a:prstGeom prst="line">
            <a:avLst/>
          </a:prstGeom>
          <a:ln>
            <a:solidFill>
              <a:srgbClr val="809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1E5F441-4A50-8E56-8FA7-1CB5F404DECE}"/>
              </a:ext>
            </a:extLst>
          </p:cNvPr>
          <p:cNvCxnSpPr>
            <a:cxnSpLocks/>
          </p:cNvCxnSpPr>
          <p:nvPr/>
        </p:nvCxnSpPr>
        <p:spPr>
          <a:xfrm flipH="1">
            <a:off x="2978422" y="2684426"/>
            <a:ext cx="206520" cy="173736"/>
          </a:xfrm>
          <a:prstGeom prst="line">
            <a:avLst/>
          </a:prstGeom>
          <a:ln>
            <a:solidFill>
              <a:srgbClr val="809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6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0113-C09F-D299-F894-A76243BC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D7AED5D-29AF-E693-4882-DE1E27D91B5D}"/>
              </a:ext>
            </a:extLst>
          </p:cNvPr>
          <p:cNvSpPr/>
          <p:nvPr/>
        </p:nvSpPr>
        <p:spPr>
          <a:xfrm>
            <a:off x="5623560" y="6326685"/>
            <a:ext cx="6016752" cy="266620"/>
          </a:xfrm>
          <a:prstGeom prst="rect">
            <a:avLst/>
          </a:prstGeom>
          <a:solidFill>
            <a:srgbClr val="F29B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69E77A-69A5-3FDA-9F10-DF2C86981543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92A561-735C-1AA5-3C3C-C046EB59410A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A304B5-5F55-2FE9-F95D-99641A3F72D7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3.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技術の紹介＿影の生成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2EBB5A-6F6B-DDC4-0085-A833B567DFB8}"/>
              </a:ext>
            </a:extLst>
          </p:cNvPr>
          <p:cNvSpPr txBox="1"/>
          <p:nvPr/>
        </p:nvSpPr>
        <p:spPr>
          <a:xfrm>
            <a:off x="5360670" y="1179575"/>
            <a:ext cx="6617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create_shadow_polygon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buildings_proj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center_point</a:t>
            </a:r>
            <a:r>
              <a:rPr lang="en-US" altLang="ja-JP" sz="1600" dirty="0"/>
              <a:t>):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center_point</a:t>
            </a:r>
            <a:endParaRPr lang="en-US" altLang="ja-JP" sz="1600" dirty="0"/>
          </a:p>
          <a:p>
            <a:r>
              <a:rPr lang="en-US" altLang="ja-JP" sz="1600" dirty="0"/>
              <a:t>    altitude = </a:t>
            </a:r>
            <a:r>
              <a:rPr lang="en-US" altLang="ja-JP" sz="1600" dirty="0" err="1"/>
              <a:t>get_altitude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azimuth = </a:t>
            </a:r>
            <a:r>
              <a:rPr lang="en-US" altLang="ja-JP" sz="1600" dirty="0" err="1"/>
              <a:t>get_azimuth</a:t>
            </a:r>
            <a:r>
              <a:rPr lang="en-US" altLang="ja-JP" sz="1600" dirty="0"/>
              <a:t>(</a:t>
            </a:r>
            <a:r>
              <a:rPr lang="en-US" altLang="ja-JP" sz="1600" dirty="0" err="1"/>
              <a:t>lat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lon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dt_utc</a:t>
            </a:r>
            <a:r>
              <a:rPr lang="en-US" altLang="ja-JP" sz="1600" dirty="0"/>
              <a:t>)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if altitude &lt;= 0: return None</a:t>
            </a:r>
          </a:p>
          <a:p>
            <a:endParaRPr lang="en-US" altLang="ja-JP" sz="1600" dirty="0"/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= 1 / </a:t>
            </a:r>
            <a:r>
              <a:rPr lang="en-US" altLang="ja-JP" sz="1600" dirty="0" err="1"/>
              <a:t>math.tan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(altitude))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math.radians</a:t>
            </a:r>
            <a:r>
              <a:rPr lang="en-US" altLang="ja-JP" sz="1600" dirty="0"/>
              <a:t>(azimuth - 180)</a:t>
            </a:r>
          </a:p>
          <a:p>
            <a:r>
              <a:rPr lang="en-US" altLang="ja-JP" sz="1600" dirty="0"/>
              <a:t>    dx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math.sin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shadow_len_factor</a:t>
            </a:r>
            <a:r>
              <a:rPr lang="en-US" altLang="ja-JP" sz="1600" dirty="0"/>
              <a:t> * </a:t>
            </a:r>
            <a:r>
              <a:rPr lang="en-US" altLang="ja-JP" sz="1600" dirty="0" err="1"/>
              <a:t>math.cos</a:t>
            </a:r>
            <a:r>
              <a:rPr lang="en-US" altLang="ja-JP" sz="1600" dirty="0"/>
              <a:t>(</a:t>
            </a:r>
            <a:r>
              <a:rPr lang="en-US" altLang="ja-JP" sz="1600" dirty="0" err="1"/>
              <a:t>azimuth_math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</a:t>
            </a:r>
          </a:p>
          <a:p>
            <a:r>
              <a:rPr lang="en-US" altLang="ja-JP" sz="1600" dirty="0"/>
              <a:t>    polygons = []</a:t>
            </a:r>
          </a:p>
          <a:p>
            <a:r>
              <a:rPr lang="en-US" altLang="ja-JP" sz="1600" dirty="0"/>
              <a:t>    for _, row in </a:t>
            </a:r>
            <a:r>
              <a:rPr lang="en-US" altLang="ja-JP" sz="1600" dirty="0" err="1"/>
              <a:t>buildings_proj.iterrows</a:t>
            </a:r>
            <a:r>
              <a:rPr lang="en-US" altLang="ja-JP" sz="1600" dirty="0"/>
              <a:t>():</a:t>
            </a:r>
          </a:p>
          <a:p>
            <a:r>
              <a:rPr lang="en-US" altLang="ja-JP" sz="1600" dirty="0"/>
              <a:t>        if </a:t>
            </a:r>
            <a:r>
              <a:rPr lang="en-US" altLang="ja-JP" sz="1600" dirty="0" err="1"/>
              <a:t>row.geometry.geom_type</a:t>
            </a:r>
            <a:r>
              <a:rPr lang="en-US" altLang="ja-JP" sz="1600" dirty="0"/>
              <a:t> == 'Polygon':</a:t>
            </a:r>
          </a:p>
          <a:p>
            <a:r>
              <a:rPr lang="en-US" altLang="ja-JP" sz="1600" dirty="0"/>
              <a:t>            h = row['height']</a:t>
            </a:r>
          </a:p>
          <a:p>
            <a:r>
              <a:rPr lang="en-US" altLang="ja-JP" sz="1600" dirty="0"/>
              <a:t>            x, y = </a:t>
            </a:r>
            <a:r>
              <a:rPr lang="en-US" altLang="ja-JP" sz="1600" dirty="0" err="1"/>
              <a:t>row.geometry.exterior.coords.xy</a:t>
            </a:r>
            <a:endParaRPr lang="en-US" altLang="ja-JP" sz="1600" dirty="0"/>
          </a:p>
          <a:p>
            <a:r>
              <a:rPr lang="en-US" altLang="ja-JP" sz="1600" dirty="0"/>
              <a:t>            ground = list(zip(x, y))</a:t>
            </a:r>
          </a:p>
          <a:p>
            <a:r>
              <a:rPr lang="en-US" altLang="ja-JP" sz="1600" dirty="0"/>
              <a:t>            roof = [(xi + h*dx,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+ h*</a:t>
            </a:r>
            <a:r>
              <a:rPr lang="en-US" altLang="ja-JP" sz="1600" dirty="0" err="1"/>
              <a:t>dy</a:t>
            </a:r>
            <a:r>
              <a:rPr lang="en-US" altLang="ja-JP" sz="1600" dirty="0"/>
              <a:t>) for xi, </a:t>
            </a:r>
            <a:r>
              <a:rPr lang="en-US" altLang="ja-JP" sz="1600" dirty="0" err="1"/>
              <a:t>yi</a:t>
            </a:r>
            <a:r>
              <a:rPr lang="en-US" altLang="ja-JP" sz="1600" dirty="0"/>
              <a:t> in zip(x, y)]</a:t>
            </a:r>
          </a:p>
          <a:p>
            <a:r>
              <a:rPr lang="en-US" altLang="ja-JP" sz="1600" dirty="0"/>
              <a:t>            </a:t>
            </a:r>
            <a:r>
              <a:rPr lang="en-US" altLang="ja-JP" sz="1600" dirty="0" err="1"/>
              <a:t>polygons.append</a:t>
            </a:r>
            <a:r>
              <a:rPr lang="en-US" altLang="ja-JP" sz="1600" dirty="0"/>
              <a:t>(MultiPoint(ground + roof).</a:t>
            </a:r>
            <a:r>
              <a:rPr lang="en-US" altLang="ja-JP" sz="1600" dirty="0" err="1"/>
              <a:t>convex_hull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            </a:t>
            </a:r>
          </a:p>
          <a:p>
            <a:r>
              <a:rPr lang="en-US" altLang="ja-JP" sz="1600" dirty="0"/>
              <a:t>    return </a:t>
            </a:r>
            <a:r>
              <a:rPr lang="en-US" altLang="ja-JP" sz="1600" dirty="0" err="1"/>
              <a:t>unary_union</a:t>
            </a:r>
            <a:r>
              <a:rPr lang="en-US" altLang="ja-JP" sz="1600" dirty="0"/>
              <a:t>(polygons) if polygons else None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C5338C9-A873-3859-7664-8D2760EC004E}"/>
              </a:ext>
            </a:extLst>
          </p:cNvPr>
          <p:cNvSpPr/>
          <p:nvPr/>
        </p:nvSpPr>
        <p:spPr>
          <a:xfrm>
            <a:off x="5221224" y="1107996"/>
            <a:ext cx="6757416" cy="5658564"/>
          </a:xfrm>
          <a:prstGeom prst="roundRect">
            <a:avLst>
              <a:gd name="adj" fmla="val 51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3B9FEB3-EFBA-5D09-86E1-1CEB51F2A9FA}"/>
              </a:ext>
            </a:extLst>
          </p:cNvPr>
          <p:cNvCxnSpPr>
            <a:cxnSpLocks/>
          </p:cNvCxnSpPr>
          <p:nvPr/>
        </p:nvCxnSpPr>
        <p:spPr>
          <a:xfrm>
            <a:off x="3878981" y="5707782"/>
            <a:ext cx="1613134" cy="498351"/>
          </a:xfrm>
          <a:prstGeom prst="line">
            <a:avLst/>
          </a:prstGeom>
          <a:ln>
            <a:solidFill>
              <a:srgbClr val="F2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98A085-F37D-ED68-8A24-DD3969B6A2ED}"/>
              </a:ext>
            </a:extLst>
          </p:cNvPr>
          <p:cNvSpPr txBox="1"/>
          <p:nvPr/>
        </p:nvSpPr>
        <p:spPr>
          <a:xfrm>
            <a:off x="6296" y="4323709"/>
            <a:ext cx="5007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個々の建物の影を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一つの巨大な影エリアにまとめる</a:t>
            </a:r>
            <a:endParaRPr kumimoji="1" lang="en-US" altLang="ja-JP" sz="24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D2E8366-BBDB-A6EB-2F67-276780191F99}"/>
              </a:ext>
            </a:extLst>
          </p:cNvPr>
          <p:cNvGrpSpPr/>
          <p:nvPr/>
        </p:nvGrpSpPr>
        <p:grpSpPr>
          <a:xfrm>
            <a:off x="874337" y="1612634"/>
            <a:ext cx="1225295" cy="947177"/>
            <a:chOff x="1399032" y="1658861"/>
            <a:chExt cx="1922107" cy="1457682"/>
          </a:xfrm>
        </p:grpSpPr>
        <p:sp>
          <p:nvSpPr>
            <p:cNvPr id="10" name="フローチャート: 結合子 9">
              <a:extLst>
                <a:ext uri="{FF2B5EF4-FFF2-40B4-BE49-F238E27FC236}">
                  <a16:creationId xmlns:a16="http://schemas.microsoft.com/office/drawing/2014/main" id="{8002C12B-A236-D1CF-E180-4D6914DACB90}"/>
                </a:ext>
              </a:extLst>
            </p:cNvPr>
            <p:cNvSpPr/>
            <p:nvPr/>
          </p:nvSpPr>
          <p:spPr>
            <a:xfrm>
              <a:off x="1399032" y="1664208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フローチャート: 結合子 10">
              <a:extLst>
                <a:ext uri="{FF2B5EF4-FFF2-40B4-BE49-F238E27FC236}">
                  <a16:creationId xmlns:a16="http://schemas.microsoft.com/office/drawing/2014/main" id="{DFBECC8C-1413-91C7-0E09-0A9B67932BB1}"/>
                </a:ext>
              </a:extLst>
            </p:cNvPr>
            <p:cNvSpPr/>
            <p:nvPr/>
          </p:nvSpPr>
          <p:spPr>
            <a:xfrm>
              <a:off x="2741275" y="1658861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フローチャート: 結合子 11">
              <a:extLst>
                <a:ext uri="{FF2B5EF4-FFF2-40B4-BE49-F238E27FC236}">
                  <a16:creationId xmlns:a16="http://schemas.microsoft.com/office/drawing/2014/main" id="{877BF549-D685-EE57-DA26-5EC27FE035F4}"/>
                </a:ext>
              </a:extLst>
            </p:cNvPr>
            <p:cNvSpPr/>
            <p:nvPr/>
          </p:nvSpPr>
          <p:spPr>
            <a:xfrm>
              <a:off x="1399032" y="2574363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フローチャート: 結合子 12">
              <a:extLst>
                <a:ext uri="{FF2B5EF4-FFF2-40B4-BE49-F238E27FC236}">
                  <a16:creationId xmlns:a16="http://schemas.microsoft.com/office/drawing/2014/main" id="{E4AAFE47-3633-2190-D0C9-77B94A99509A}"/>
                </a:ext>
              </a:extLst>
            </p:cNvPr>
            <p:cNvSpPr/>
            <p:nvPr/>
          </p:nvSpPr>
          <p:spPr>
            <a:xfrm>
              <a:off x="2741275" y="2609831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ローチャート: 結合子 13">
              <a:extLst>
                <a:ext uri="{FF2B5EF4-FFF2-40B4-BE49-F238E27FC236}">
                  <a16:creationId xmlns:a16="http://schemas.microsoft.com/office/drawing/2014/main" id="{A2DABA10-63B6-D7C1-F2F2-C919A08B9591}"/>
                </a:ext>
              </a:extLst>
            </p:cNvPr>
            <p:cNvSpPr/>
            <p:nvPr/>
          </p:nvSpPr>
          <p:spPr>
            <a:xfrm>
              <a:off x="1834896" y="2026920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結合子 14">
              <a:extLst>
                <a:ext uri="{FF2B5EF4-FFF2-40B4-BE49-F238E27FC236}">
                  <a16:creationId xmlns:a16="http://schemas.microsoft.com/office/drawing/2014/main" id="{A60652E7-A0B0-288D-C2F9-57F0543CFB46}"/>
                </a:ext>
              </a:extLst>
            </p:cNvPr>
            <p:cNvSpPr/>
            <p:nvPr/>
          </p:nvSpPr>
          <p:spPr>
            <a:xfrm>
              <a:off x="3177139" y="2021573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結合子 15">
              <a:extLst>
                <a:ext uri="{FF2B5EF4-FFF2-40B4-BE49-F238E27FC236}">
                  <a16:creationId xmlns:a16="http://schemas.microsoft.com/office/drawing/2014/main" id="{3ACFF30A-ECF4-176F-F996-555E4CE97DF8}"/>
                </a:ext>
              </a:extLst>
            </p:cNvPr>
            <p:cNvSpPr/>
            <p:nvPr/>
          </p:nvSpPr>
          <p:spPr>
            <a:xfrm>
              <a:off x="1834896" y="2937075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ローチャート: 結合子 16">
              <a:extLst>
                <a:ext uri="{FF2B5EF4-FFF2-40B4-BE49-F238E27FC236}">
                  <a16:creationId xmlns:a16="http://schemas.microsoft.com/office/drawing/2014/main" id="{0DF68FBB-BFE9-F2B7-C50B-14A5D451A502}"/>
                </a:ext>
              </a:extLst>
            </p:cNvPr>
            <p:cNvSpPr/>
            <p:nvPr/>
          </p:nvSpPr>
          <p:spPr>
            <a:xfrm>
              <a:off x="3177139" y="2972543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C92906EF-00AD-A426-8B4E-4BC703AD963C}"/>
                </a:ext>
              </a:extLst>
            </p:cNvPr>
            <p:cNvSpPr/>
            <p:nvPr/>
          </p:nvSpPr>
          <p:spPr>
            <a:xfrm>
              <a:off x="1911096" y="2113015"/>
              <a:ext cx="1344168" cy="868672"/>
            </a:xfrm>
            <a:prstGeom prst="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31617D36-2FF8-C260-7F1E-7998BE369C13}"/>
                </a:ext>
              </a:extLst>
            </p:cNvPr>
            <p:cNvCxnSpPr/>
            <p:nvPr/>
          </p:nvCxnSpPr>
          <p:spPr>
            <a:xfrm flipH="1">
              <a:off x="1978896" y="2231136"/>
              <a:ext cx="206520" cy="173736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F4C9397-AC1A-4B2E-7097-DC1C4AEEE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896" y="2231136"/>
              <a:ext cx="553992" cy="487227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9AB4EA17-F35D-5E46-C026-A11A9476C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1296" y="2231136"/>
              <a:ext cx="753979" cy="639627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D3FCF641-2012-9675-696F-F2EC1DBBCB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86" y="2318004"/>
              <a:ext cx="745053" cy="643972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1A4F8B65-B1D4-A340-AB1A-C0F3A29898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422" y="2684426"/>
              <a:ext cx="206520" cy="173736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625BF8D0-763D-0103-C9F2-961C0A5C23FF}"/>
              </a:ext>
            </a:extLst>
          </p:cNvPr>
          <p:cNvGrpSpPr/>
          <p:nvPr/>
        </p:nvGrpSpPr>
        <p:grpSpPr>
          <a:xfrm>
            <a:off x="874337" y="2425038"/>
            <a:ext cx="1225295" cy="947177"/>
            <a:chOff x="1399032" y="1658861"/>
            <a:chExt cx="1922107" cy="1457682"/>
          </a:xfrm>
        </p:grpSpPr>
        <p:sp>
          <p:nvSpPr>
            <p:cNvPr id="26" name="フローチャート: 結合子 25">
              <a:extLst>
                <a:ext uri="{FF2B5EF4-FFF2-40B4-BE49-F238E27FC236}">
                  <a16:creationId xmlns:a16="http://schemas.microsoft.com/office/drawing/2014/main" id="{63D57FBD-D876-B4FA-505D-2736F4AF491F}"/>
                </a:ext>
              </a:extLst>
            </p:cNvPr>
            <p:cNvSpPr/>
            <p:nvPr/>
          </p:nvSpPr>
          <p:spPr>
            <a:xfrm>
              <a:off x="1399032" y="1664208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フローチャート: 結合子 26">
              <a:extLst>
                <a:ext uri="{FF2B5EF4-FFF2-40B4-BE49-F238E27FC236}">
                  <a16:creationId xmlns:a16="http://schemas.microsoft.com/office/drawing/2014/main" id="{0FCC93E5-F0D3-D7AD-51EC-C6EA7C7736C1}"/>
                </a:ext>
              </a:extLst>
            </p:cNvPr>
            <p:cNvSpPr/>
            <p:nvPr/>
          </p:nvSpPr>
          <p:spPr>
            <a:xfrm>
              <a:off x="2741275" y="1658861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フローチャート: 結合子 27">
              <a:extLst>
                <a:ext uri="{FF2B5EF4-FFF2-40B4-BE49-F238E27FC236}">
                  <a16:creationId xmlns:a16="http://schemas.microsoft.com/office/drawing/2014/main" id="{B37DBF2A-06DB-609D-8847-2CC7F2BE943D}"/>
                </a:ext>
              </a:extLst>
            </p:cNvPr>
            <p:cNvSpPr/>
            <p:nvPr/>
          </p:nvSpPr>
          <p:spPr>
            <a:xfrm>
              <a:off x="1399032" y="2574363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ローチャート: 結合子 28">
              <a:extLst>
                <a:ext uri="{FF2B5EF4-FFF2-40B4-BE49-F238E27FC236}">
                  <a16:creationId xmlns:a16="http://schemas.microsoft.com/office/drawing/2014/main" id="{AEE66F5F-AFA9-F8A6-5CF1-B539B012917C}"/>
                </a:ext>
              </a:extLst>
            </p:cNvPr>
            <p:cNvSpPr/>
            <p:nvPr/>
          </p:nvSpPr>
          <p:spPr>
            <a:xfrm>
              <a:off x="2741275" y="2609831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フローチャート: 結合子 29">
              <a:extLst>
                <a:ext uri="{FF2B5EF4-FFF2-40B4-BE49-F238E27FC236}">
                  <a16:creationId xmlns:a16="http://schemas.microsoft.com/office/drawing/2014/main" id="{A04407FB-21BA-02D3-2439-B1FE78980E93}"/>
                </a:ext>
              </a:extLst>
            </p:cNvPr>
            <p:cNvSpPr/>
            <p:nvPr/>
          </p:nvSpPr>
          <p:spPr>
            <a:xfrm>
              <a:off x="1834896" y="2026920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フローチャート: 結合子 30">
              <a:extLst>
                <a:ext uri="{FF2B5EF4-FFF2-40B4-BE49-F238E27FC236}">
                  <a16:creationId xmlns:a16="http://schemas.microsoft.com/office/drawing/2014/main" id="{D21C477E-4D0C-354C-9624-9E68F380A72D}"/>
                </a:ext>
              </a:extLst>
            </p:cNvPr>
            <p:cNvSpPr/>
            <p:nvPr/>
          </p:nvSpPr>
          <p:spPr>
            <a:xfrm>
              <a:off x="3177139" y="2021573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フローチャート: 結合子 31">
              <a:extLst>
                <a:ext uri="{FF2B5EF4-FFF2-40B4-BE49-F238E27FC236}">
                  <a16:creationId xmlns:a16="http://schemas.microsoft.com/office/drawing/2014/main" id="{B4324334-E159-AD10-FE89-68F7A1B80E88}"/>
                </a:ext>
              </a:extLst>
            </p:cNvPr>
            <p:cNvSpPr/>
            <p:nvPr/>
          </p:nvSpPr>
          <p:spPr>
            <a:xfrm>
              <a:off x="1834896" y="2937075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フローチャート: 結合子 32">
              <a:extLst>
                <a:ext uri="{FF2B5EF4-FFF2-40B4-BE49-F238E27FC236}">
                  <a16:creationId xmlns:a16="http://schemas.microsoft.com/office/drawing/2014/main" id="{47B0CA45-89A7-6A63-69B2-3D642E6A095C}"/>
                </a:ext>
              </a:extLst>
            </p:cNvPr>
            <p:cNvSpPr/>
            <p:nvPr/>
          </p:nvSpPr>
          <p:spPr>
            <a:xfrm>
              <a:off x="3177139" y="2972543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DA560F9-5621-1B1B-2592-31F57869222F}"/>
                </a:ext>
              </a:extLst>
            </p:cNvPr>
            <p:cNvSpPr/>
            <p:nvPr/>
          </p:nvSpPr>
          <p:spPr>
            <a:xfrm>
              <a:off x="1911096" y="2113015"/>
              <a:ext cx="1344168" cy="868672"/>
            </a:xfrm>
            <a:prstGeom prst="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B4091502-D019-A25D-E29F-41B568C7428D}"/>
                </a:ext>
              </a:extLst>
            </p:cNvPr>
            <p:cNvCxnSpPr/>
            <p:nvPr/>
          </p:nvCxnSpPr>
          <p:spPr>
            <a:xfrm flipH="1">
              <a:off x="1978896" y="2231136"/>
              <a:ext cx="206520" cy="173736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B0F57D14-537D-D432-7FDF-857332CCC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896" y="2231136"/>
              <a:ext cx="553992" cy="487227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B3202CB6-57E5-7046-5489-3AAAA9A142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1296" y="2231136"/>
              <a:ext cx="753979" cy="639627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9DE7ED9-818F-FB12-1FA2-177ABD673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86" y="2318004"/>
              <a:ext cx="745053" cy="643972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5FC00BF4-C063-7A2D-07B7-CE5970E766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422" y="2684426"/>
              <a:ext cx="206520" cy="173736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04E0EAB-793D-FC35-8269-562F3DA5180D}"/>
              </a:ext>
            </a:extLst>
          </p:cNvPr>
          <p:cNvGrpSpPr/>
          <p:nvPr/>
        </p:nvGrpSpPr>
        <p:grpSpPr>
          <a:xfrm>
            <a:off x="874337" y="3212512"/>
            <a:ext cx="1225295" cy="947177"/>
            <a:chOff x="1399032" y="1658861"/>
            <a:chExt cx="1922107" cy="1457682"/>
          </a:xfrm>
        </p:grpSpPr>
        <p:sp>
          <p:nvSpPr>
            <p:cNvPr id="41" name="フローチャート: 結合子 40">
              <a:extLst>
                <a:ext uri="{FF2B5EF4-FFF2-40B4-BE49-F238E27FC236}">
                  <a16:creationId xmlns:a16="http://schemas.microsoft.com/office/drawing/2014/main" id="{E9A3CD41-58AD-B632-35C5-17F6C57D0523}"/>
                </a:ext>
              </a:extLst>
            </p:cNvPr>
            <p:cNvSpPr/>
            <p:nvPr/>
          </p:nvSpPr>
          <p:spPr>
            <a:xfrm>
              <a:off x="1399032" y="1664208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フローチャート: 結合子 41">
              <a:extLst>
                <a:ext uri="{FF2B5EF4-FFF2-40B4-BE49-F238E27FC236}">
                  <a16:creationId xmlns:a16="http://schemas.microsoft.com/office/drawing/2014/main" id="{3EB80BC3-76B0-1C4F-22C3-629AB54184E9}"/>
                </a:ext>
              </a:extLst>
            </p:cNvPr>
            <p:cNvSpPr/>
            <p:nvPr/>
          </p:nvSpPr>
          <p:spPr>
            <a:xfrm>
              <a:off x="2741275" y="1658861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フローチャート: 結合子 42">
              <a:extLst>
                <a:ext uri="{FF2B5EF4-FFF2-40B4-BE49-F238E27FC236}">
                  <a16:creationId xmlns:a16="http://schemas.microsoft.com/office/drawing/2014/main" id="{2D88C140-A885-2DC7-5551-5B01551977AC}"/>
                </a:ext>
              </a:extLst>
            </p:cNvPr>
            <p:cNvSpPr/>
            <p:nvPr/>
          </p:nvSpPr>
          <p:spPr>
            <a:xfrm>
              <a:off x="1399032" y="2574363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フローチャート: 結合子 43">
              <a:extLst>
                <a:ext uri="{FF2B5EF4-FFF2-40B4-BE49-F238E27FC236}">
                  <a16:creationId xmlns:a16="http://schemas.microsoft.com/office/drawing/2014/main" id="{151CEFCA-2264-7225-5E20-02CBB5C4C919}"/>
                </a:ext>
              </a:extLst>
            </p:cNvPr>
            <p:cNvSpPr/>
            <p:nvPr/>
          </p:nvSpPr>
          <p:spPr>
            <a:xfrm>
              <a:off x="2741275" y="2609831"/>
              <a:ext cx="144000" cy="1440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フローチャート: 結合子 44">
              <a:extLst>
                <a:ext uri="{FF2B5EF4-FFF2-40B4-BE49-F238E27FC236}">
                  <a16:creationId xmlns:a16="http://schemas.microsoft.com/office/drawing/2014/main" id="{06FD2124-B318-7886-4241-EC2C5DF639E1}"/>
                </a:ext>
              </a:extLst>
            </p:cNvPr>
            <p:cNvSpPr/>
            <p:nvPr/>
          </p:nvSpPr>
          <p:spPr>
            <a:xfrm>
              <a:off x="1834896" y="2026920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フローチャート: 結合子 45">
              <a:extLst>
                <a:ext uri="{FF2B5EF4-FFF2-40B4-BE49-F238E27FC236}">
                  <a16:creationId xmlns:a16="http://schemas.microsoft.com/office/drawing/2014/main" id="{14492B33-0772-4C4C-1EEB-8DB79106C0BB}"/>
                </a:ext>
              </a:extLst>
            </p:cNvPr>
            <p:cNvSpPr/>
            <p:nvPr/>
          </p:nvSpPr>
          <p:spPr>
            <a:xfrm>
              <a:off x="3177139" y="2021573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フローチャート: 結合子 46">
              <a:extLst>
                <a:ext uri="{FF2B5EF4-FFF2-40B4-BE49-F238E27FC236}">
                  <a16:creationId xmlns:a16="http://schemas.microsoft.com/office/drawing/2014/main" id="{7912CCF4-E113-EA45-2E46-7AFC2852E576}"/>
                </a:ext>
              </a:extLst>
            </p:cNvPr>
            <p:cNvSpPr/>
            <p:nvPr/>
          </p:nvSpPr>
          <p:spPr>
            <a:xfrm>
              <a:off x="1834896" y="2937075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ローチャート: 結合子 47">
              <a:extLst>
                <a:ext uri="{FF2B5EF4-FFF2-40B4-BE49-F238E27FC236}">
                  <a16:creationId xmlns:a16="http://schemas.microsoft.com/office/drawing/2014/main" id="{C0B59C79-0FA2-491D-150C-56E2EB08D2AA}"/>
                </a:ext>
              </a:extLst>
            </p:cNvPr>
            <p:cNvSpPr/>
            <p:nvPr/>
          </p:nvSpPr>
          <p:spPr>
            <a:xfrm>
              <a:off x="3177139" y="2972543"/>
              <a:ext cx="144000" cy="144000"/>
            </a:xfrm>
            <a:prstGeom prst="flowChartConnector">
              <a:avLst/>
            </a:prstGeom>
            <a:solidFill>
              <a:srgbClr val="809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0307DC30-4658-3ECA-B335-ED72B7ACF63B}"/>
                </a:ext>
              </a:extLst>
            </p:cNvPr>
            <p:cNvSpPr/>
            <p:nvPr/>
          </p:nvSpPr>
          <p:spPr>
            <a:xfrm>
              <a:off x="1911096" y="2113015"/>
              <a:ext cx="1344168" cy="868672"/>
            </a:xfrm>
            <a:prstGeom prst="rect">
              <a:avLst/>
            </a:prstGeom>
            <a:noFill/>
            <a:ln>
              <a:solidFill>
                <a:srgbClr val="809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A7C9910C-98C8-62DB-E1C4-4CB28E9E62DF}"/>
                </a:ext>
              </a:extLst>
            </p:cNvPr>
            <p:cNvCxnSpPr/>
            <p:nvPr/>
          </p:nvCxnSpPr>
          <p:spPr>
            <a:xfrm flipH="1">
              <a:off x="1978896" y="2231136"/>
              <a:ext cx="206520" cy="173736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2A5A1CB-B7FD-784B-D786-591B5ABB58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896" y="2231136"/>
              <a:ext cx="553992" cy="487227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DBFA8113-E1D0-7018-1DEF-09952A2E1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1296" y="2231136"/>
              <a:ext cx="753979" cy="639627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8CB9D55-20A9-A2B0-2167-B2573BDED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86" y="2318004"/>
              <a:ext cx="745053" cy="643972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F8D90118-0904-48D8-B6EE-87D21D039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422" y="2684426"/>
              <a:ext cx="206520" cy="173736"/>
            </a:xfrm>
            <a:prstGeom prst="line">
              <a:avLst/>
            </a:prstGeom>
            <a:ln>
              <a:solidFill>
                <a:srgbClr val="809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677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AE4B-8134-71C0-7ABD-DE873633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FAEEFB9-E6C1-E088-E5FD-76656D91E9F6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6FF4A-89F7-F884-8DF6-966C4D609889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516549-8A7A-DEB1-38A2-7091873F09CA}"/>
              </a:ext>
            </a:extLst>
          </p:cNvPr>
          <p:cNvSpPr txBox="1"/>
          <p:nvPr/>
        </p:nvSpPr>
        <p:spPr>
          <a:xfrm>
            <a:off x="539496" y="160791"/>
            <a:ext cx="602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4.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工夫した機能</a:t>
            </a:r>
            <a:endParaRPr lang="en-US" altLang="ja-JP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4AA7359-01E3-C8B0-CBE4-9B02CD338FDF}"/>
              </a:ext>
            </a:extLst>
          </p:cNvPr>
          <p:cNvSpPr/>
          <p:nvPr/>
        </p:nvSpPr>
        <p:spPr>
          <a:xfrm>
            <a:off x="342900" y="1107996"/>
            <a:ext cx="5417820" cy="2668475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7944556-A10D-13A0-E875-D1CB00B5FE29}"/>
              </a:ext>
            </a:extLst>
          </p:cNvPr>
          <p:cNvSpPr/>
          <p:nvPr/>
        </p:nvSpPr>
        <p:spPr>
          <a:xfrm>
            <a:off x="342900" y="4028734"/>
            <a:ext cx="5417820" cy="2668475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5A48651-E1B9-0FB2-6D48-86EFBB170EB3}"/>
              </a:ext>
            </a:extLst>
          </p:cNvPr>
          <p:cNvSpPr/>
          <p:nvPr/>
        </p:nvSpPr>
        <p:spPr>
          <a:xfrm>
            <a:off x="6102096" y="1107996"/>
            <a:ext cx="5417820" cy="2668475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EA38EB5-9132-4BC2-B2EC-3B5FBE6CCB75}"/>
              </a:ext>
            </a:extLst>
          </p:cNvPr>
          <p:cNvSpPr/>
          <p:nvPr/>
        </p:nvSpPr>
        <p:spPr>
          <a:xfrm>
            <a:off x="6102096" y="4028733"/>
            <a:ext cx="5417820" cy="2668475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2CD283C-CC8A-3F95-4F34-87051ABB521A}"/>
              </a:ext>
            </a:extLst>
          </p:cNvPr>
          <p:cNvSpPr txBox="1"/>
          <p:nvPr/>
        </p:nvSpPr>
        <p:spPr>
          <a:xfrm>
            <a:off x="441198" y="1314953"/>
            <a:ext cx="522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コンビニ・給水スポットの表示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40AE460-FBE6-590A-BC1D-B081103A948B}"/>
              </a:ext>
            </a:extLst>
          </p:cNvPr>
          <p:cNvSpPr txBox="1"/>
          <p:nvPr/>
        </p:nvSpPr>
        <p:spPr>
          <a:xfrm>
            <a:off x="6259830" y="1314953"/>
            <a:ext cx="5260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距離・気温に基づく</a:t>
            </a:r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アドバイス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ED0ED38-2B41-FECB-CBAB-AC5EBA256CBD}"/>
              </a:ext>
            </a:extLst>
          </p:cNvPr>
          <p:cNvSpPr txBox="1"/>
          <p:nvPr/>
        </p:nvSpPr>
        <p:spPr>
          <a:xfrm>
            <a:off x="930803" y="4238195"/>
            <a:ext cx="424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時間先との比較機能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96BC597-35FD-32E1-E210-B32C54C0A55A}"/>
              </a:ext>
            </a:extLst>
          </p:cNvPr>
          <p:cNvSpPr txBox="1"/>
          <p:nvPr/>
        </p:nvSpPr>
        <p:spPr>
          <a:xfrm>
            <a:off x="6624648" y="4238195"/>
            <a:ext cx="453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涼しさを感じるデザイン</a:t>
            </a:r>
            <a:endParaRPr kumimoji="1" lang="en-US" altLang="ja-JP" sz="28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23" name="図 2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B530AFF-3BE6-2E72-F079-EF156B8F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4970876"/>
            <a:ext cx="4858886" cy="1294333"/>
          </a:xfrm>
          <a:prstGeom prst="rect">
            <a:avLst/>
          </a:prstGeom>
        </p:spPr>
      </p:pic>
      <p:pic>
        <p:nvPicPr>
          <p:cNvPr id="25" name="図 2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F51AAFE1-FF4A-A201-49D0-2303D2E9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119" y="1810819"/>
            <a:ext cx="3661381" cy="1827190"/>
          </a:xfrm>
          <a:prstGeom prst="rect">
            <a:avLst/>
          </a:prstGeom>
        </p:spPr>
      </p:pic>
      <p:pic>
        <p:nvPicPr>
          <p:cNvPr id="27" name="図 2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D091F67-68E4-81A9-F351-6914198D3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192" y="1856539"/>
            <a:ext cx="4923628" cy="1735749"/>
          </a:xfrm>
          <a:prstGeom prst="rect">
            <a:avLst/>
          </a:prstGeom>
        </p:spPr>
      </p:pic>
      <p:pic>
        <p:nvPicPr>
          <p:cNvPr id="29" name="図 28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752AE3B-FBE4-7E12-2496-34CDA20DF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981" y="4761415"/>
            <a:ext cx="3605784" cy="177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02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6487-DA33-2C89-1715-D3AC397D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7B033D-3E8F-0542-CA7E-B543589F5D2F}"/>
              </a:ext>
            </a:extLst>
          </p:cNvPr>
          <p:cNvSpPr/>
          <p:nvPr/>
        </p:nvSpPr>
        <p:spPr>
          <a:xfrm>
            <a:off x="342900" y="868677"/>
            <a:ext cx="9358884" cy="82298"/>
          </a:xfrm>
          <a:prstGeom prst="rect">
            <a:avLst/>
          </a:prstGeom>
          <a:solidFill>
            <a:srgbClr val="809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BD59CA-9482-0F21-CFEA-CA8AF3F574C0}"/>
              </a:ext>
            </a:extLst>
          </p:cNvPr>
          <p:cNvSpPr txBox="1"/>
          <p:nvPr/>
        </p:nvSpPr>
        <p:spPr>
          <a:xfrm>
            <a:off x="10847832" y="0"/>
            <a:ext cx="1344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8090C0"/>
                </a:solidFill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1</a:t>
            </a:r>
            <a:endParaRPr kumimoji="1" lang="ja-JP" altLang="en-US" sz="6600" dirty="0">
              <a:solidFill>
                <a:srgbClr val="8090C0"/>
              </a:solidFill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093875-70AF-F24F-1690-76D957BFF553}"/>
              </a:ext>
            </a:extLst>
          </p:cNvPr>
          <p:cNvSpPr txBox="1"/>
          <p:nvPr/>
        </p:nvSpPr>
        <p:spPr>
          <a:xfrm>
            <a:off x="539496" y="160791"/>
            <a:ext cx="363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5. </a:t>
            </a:r>
            <a:r>
              <a:rPr lang="ja-JP" altLang="en-US" sz="40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今後の展望</a:t>
            </a:r>
            <a:endParaRPr kumimoji="1" lang="ja-JP" altLang="en-US" sz="40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1032" name="Picture 8" descr="PLATEAU [プラトー] | 国土交通省が主導する、日本全国の3D都市モデルの整備・オープンデータ化プロジェクト">
            <a:extLst>
              <a:ext uri="{FF2B5EF4-FFF2-40B4-BE49-F238E27FC236}">
                <a16:creationId xmlns:a16="http://schemas.microsoft.com/office/drawing/2014/main" id="{2145E96F-AB86-C613-D7AB-60FA0BCCAD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3" r="26774"/>
          <a:stretch>
            <a:fillRect/>
          </a:stretch>
        </p:blipFill>
        <p:spPr bwMode="auto">
          <a:xfrm>
            <a:off x="1264158" y="4386154"/>
            <a:ext cx="1737360" cy="200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図 15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C7202B4-5EC6-50D8-EEE3-80CDEB80B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915" y="4959583"/>
            <a:ext cx="1344169" cy="1344169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BD546C7-FBF2-2578-202C-1B43B4E517C5}"/>
              </a:ext>
            </a:extLst>
          </p:cNvPr>
          <p:cNvSpPr/>
          <p:nvPr/>
        </p:nvSpPr>
        <p:spPr>
          <a:xfrm>
            <a:off x="342900" y="1380744"/>
            <a:ext cx="3579876" cy="5120640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54558A3-E704-C5BD-3EFF-444B869C024D}"/>
              </a:ext>
            </a:extLst>
          </p:cNvPr>
          <p:cNvSpPr/>
          <p:nvPr/>
        </p:nvSpPr>
        <p:spPr>
          <a:xfrm>
            <a:off x="4306062" y="1380744"/>
            <a:ext cx="3579876" cy="5120640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CEC8BA1-2C29-DBB0-2802-3E0305DF95E0}"/>
              </a:ext>
            </a:extLst>
          </p:cNvPr>
          <p:cNvSpPr/>
          <p:nvPr/>
        </p:nvSpPr>
        <p:spPr>
          <a:xfrm>
            <a:off x="8269224" y="1380744"/>
            <a:ext cx="3579876" cy="5120640"/>
          </a:xfrm>
          <a:prstGeom prst="roundRect">
            <a:avLst/>
          </a:prstGeom>
          <a:noFill/>
          <a:ln>
            <a:solidFill>
              <a:srgbClr val="809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9F3B2D2-D63C-E42B-52A6-D77D095E788C}"/>
              </a:ext>
            </a:extLst>
          </p:cNvPr>
          <p:cNvSpPr txBox="1"/>
          <p:nvPr/>
        </p:nvSpPr>
        <p:spPr>
          <a:xfrm>
            <a:off x="342900" y="2016274"/>
            <a:ext cx="35798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PLATEAU</a:t>
            </a:r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を導入し</a:t>
            </a:r>
            <a:r>
              <a:rPr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、</a:t>
            </a:r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より正確な建物の高さと形状を反映させる。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69E10B2-3DC0-0CD9-BAD0-7C84A4665EF9}"/>
              </a:ext>
            </a:extLst>
          </p:cNvPr>
          <p:cNvSpPr txBox="1"/>
          <p:nvPr/>
        </p:nvSpPr>
        <p:spPr>
          <a:xfrm>
            <a:off x="4370070" y="2016274"/>
            <a:ext cx="35798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天気</a:t>
            </a:r>
            <a:r>
              <a:rPr kumimoji="1" lang="en-US" altLang="ja-JP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API</a:t>
            </a:r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と連携し、気温や天候を自動取得する。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3F09B75-49FE-124F-B54A-C17880A5F9ED}"/>
              </a:ext>
            </a:extLst>
          </p:cNvPr>
          <p:cNvSpPr txBox="1"/>
          <p:nvPr/>
        </p:nvSpPr>
        <p:spPr>
          <a:xfrm>
            <a:off x="8421623" y="2016274"/>
            <a:ext cx="34773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重い処理も対応可能な環境を用意し、検索できる</a:t>
            </a:r>
            <a:r>
              <a:rPr lang="ja-JP" altLang="en-US" sz="3200" dirty="0">
                <a:latin typeface="源真ゴシック Medium" panose="020B0402020203020207" pitchFamily="50" charset="-128"/>
                <a:ea typeface="源真ゴシック Medium" panose="020B0402020203020207" pitchFamily="50" charset="-128"/>
                <a:cs typeface="源真ゴシック Medium" panose="020B0402020203020207" pitchFamily="50" charset="-128"/>
              </a:rPr>
              <a:t>地域を拡大する。</a:t>
            </a:r>
            <a:endParaRPr kumimoji="1" lang="en-US" altLang="ja-JP" sz="3200" dirty="0">
              <a:latin typeface="源真ゴシック Medium" panose="020B0402020203020207" pitchFamily="50" charset="-128"/>
              <a:ea typeface="源真ゴシック Medium" panose="020B0402020203020207" pitchFamily="50" charset="-128"/>
              <a:cs typeface="源真ゴシック Medium" panose="020B0402020203020207" pitchFamily="50" charset="-128"/>
            </a:endParaRPr>
          </a:p>
        </p:txBody>
      </p:sp>
      <p:pic>
        <p:nvPicPr>
          <p:cNvPr id="6" name="図 5" descr="プレート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A29F869-BC09-3D30-462F-EC0679EA3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009" y="4625339"/>
            <a:ext cx="1703833" cy="170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18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3902</TotalTime>
  <Words>2553</Words>
  <Application>Microsoft Office PowerPoint</Application>
  <PresentationFormat>ワイド画面</PresentationFormat>
  <Paragraphs>287</Paragraphs>
  <Slides>18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源真ゴシック Medium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福田　桃花</dc:creator>
  <cp:lastModifiedBy>福田　桃花</cp:lastModifiedBy>
  <cp:revision>29</cp:revision>
  <dcterms:created xsi:type="dcterms:W3CDTF">2025-12-13T04:07:13Z</dcterms:created>
  <dcterms:modified xsi:type="dcterms:W3CDTF">2025-12-22T00:28:29Z</dcterms:modified>
</cp:coreProperties>
</file>